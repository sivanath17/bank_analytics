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62" r:id="rId4"/>
    <p:sldId id="257" r:id="rId5"/>
    <p:sldId id="258" r:id="rId6"/>
    <p:sldId id="263" r:id="rId7"/>
    <p:sldId id="264" r:id="rId8"/>
    <p:sldId id="266" r:id="rId9"/>
    <p:sldId id="265" r:id="rId10"/>
    <p:sldId id="267" r:id="rId11"/>
    <p:sldId id="268" r:id="rId12"/>
    <p:sldId id="278" r:id="rId13"/>
    <p:sldId id="279" r:id="rId14"/>
    <p:sldId id="281" r:id="rId15"/>
    <p:sldId id="282" r:id="rId16"/>
    <p:sldId id="269" r:id="rId17"/>
    <p:sldId id="270" r:id="rId18"/>
    <p:sldId id="271" r:id="rId19"/>
    <p:sldId id="272" r:id="rId20"/>
    <p:sldId id="273" r:id="rId21"/>
    <p:sldId id="274" r:id="rId22"/>
    <p:sldId id="275" r:id="rId23"/>
    <p:sldId id="276" r:id="rId24"/>
    <p:sldId id="277" r:id="rId25"/>
    <p:sldId id="283" r:id="rId26"/>
    <p:sldId id="280" r:id="rId27"/>
    <p:sldId id="284"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10/30/2025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9D0FD-E84B-4687-B33D-F2D746A228AD}"/>
              </a:ext>
            </a:extLst>
          </p:cNvPr>
          <p:cNvSpPr>
            <a:spLocks noGrp="1"/>
          </p:cNvSpPr>
          <p:nvPr>
            <p:ph type="ctrTitle"/>
          </p:nvPr>
        </p:nvSpPr>
        <p:spPr/>
        <p:txBody>
          <a:bodyPr/>
          <a:lstStyle/>
          <a:p>
            <a:r>
              <a:rPr lang="en-US" dirty="0"/>
              <a:t>BANK ANALYTICS</a:t>
            </a:r>
          </a:p>
        </p:txBody>
      </p:sp>
      <p:sp>
        <p:nvSpPr>
          <p:cNvPr id="3" name="Subtitle 2">
            <a:extLst>
              <a:ext uri="{FF2B5EF4-FFF2-40B4-BE49-F238E27FC236}">
                <a16:creationId xmlns:a16="http://schemas.microsoft.com/office/drawing/2014/main" id="{81A56AB9-A157-4E1D-B5FA-E8273C0D87F8}"/>
              </a:ext>
            </a:extLst>
          </p:cNvPr>
          <p:cNvSpPr>
            <a:spLocks noGrp="1"/>
          </p:cNvSpPr>
          <p:nvPr>
            <p:ph type="subTitle" idx="1"/>
          </p:nvPr>
        </p:nvSpPr>
        <p:spPr/>
        <p:txBody>
          <a:bodyPr/>
          <a:lstStyle/>
          <a:p>
            <a:r>
              <a:rPr lang="en-US" dirty="0"/>
              <a:t>Group 6</a:t>
            </a:r>
          </a:p>
        </p:txBody>
      </p:sp>
      <p:pic>
        <p:nvPicPr>
          <p:cNvPr id="1028" name="Picture 4" descr="Big data analytics in finance: key applications, benefits, and risks">
            <a:extLst>
              <a:ext uri="{FF2B5EF4-FFF2-40B4-BE49-F238E27FC236}">
                <a16:creationId xmlns:a16="http://schemas.microsoft.com/office/drawing/2014/main" id="{ECF81A56-D196-4658-9E4A-8B81FE61B6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2582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5441802"/>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0C4C-E43C-4B5C-B6DC-B8E38890E54C}"/>
              </a:ext>
            </a:extLst>
          </p:cNvPr>
          <p:cNvSpPr>
            <a:spLocks noGrp="1"/>
          </p:cNvSpPr>
          <p:nvPr>
            <p:ph type="title"/>
          </p:nvPr>
        </p:nvSpPr>
        <p:spPr>
          <a:xfrm>
            <a:off x="2592925" y="624110"/>
            <a:ext cx="8911687" cy="827618"/>
          </a:xfrm>
        </p:spPr>
        <p:txBody>
          <a:bodyPr/>
          <a:lstStyle/>
          <a:p>
            <a:r>
              <a:rPr lang="en-US" dirty="0"/>
              <a:t>Agenda</a:t>
            </a:r>
          </a:p>
        </p:txBody>
      </p:sp>
      <p:sp>
        <p:nvSpPr>
          <p:cNvPr id="6" name="Content Placeholder 5">
            <a:extLst>
              <a:ext uri="{FF2B5EF4-FFF2-40B4-BE49-F238E27FC236}">
                <a16:creationId xmlns:a16="http://schemas.microsoft.com/office/drawing/2014/main" id="{07698847-64A0-4209-97BB-7F478B20D01C}"/>
              </a:ext>
            </a:extLst>
          </p:cNvPr>
          <p:cNvSpPr>
            <a:spLocks noGrp="1"/>
          </p:cNvSpPr>
          <p:nvPr>
            <p:ph idx="1"/>
          </p:nvPr>
        </p:nvSpPr>
        <p:spPr>
          <a:xfrm>
            <a:off x="2589212" y="1706252"/>
            <a:ext cx="8915400" cy="4527638"/>
          </a:xfrm>
        </p:spPr>
        <p:txBody>
          <a:bodyPr/>
          <a:lstStyle/>
          <a:p>
            <a:pPr fontAlgn="b">
              <a:lnSpc>
                <a:spcPct val="150000"/>
              </a:lnSpc>
            </a:pPr>
            <a:r>
              <a:rPr lang="en-US" dirty="0"/>
              <a:t>Introduction</a:t>
            </a:r>
          </a:p>
          <a:p>
            <a:pPr fontAlgn="b">
              <a:lnSpc>
                <a:spcPct val="150000"/>
              </a:lnSpc>
            </a:pPr>
            <a:r>
              <a:rPr lang="en-US" dirty="0"/>
              <a:t>Goals &amp; Purpose</a:t>
            </a:r>
          </a:p>
          <a:p>
            <a:pPr fontAlgn="b">
              <a:lnSpc>
                <a:spcPct val="150000"/>
              </a:lnSpc>
            </a:pPr>
            <a:r>
              <a:rPr lang="en-US" dirty="0"/>
              <a:t>Data description</a:t>
            </a:r>
          </a:p>
          <a:p>
            <a:pPr fontAlgn="b">
              <a:lnSpc>
                <a:spcPct val="150000"/>
              </a:lnSpc>
            </a:pPr>
            <a:r>
              <a:rPr lang="en-US" dirty="0"/>
              <a:t>Data cleaning</a:t>
            </a:r>
          </a:p>
          <a:p>
            <a:pPr fontAlgn="b">
              <a:lnSpc>
                <a:spcPct val="150000"/>
              </a:lnSpc>
            </a:pPr>
            <a:r>
              <a:rPr lang="en-US" dirty="0"/>
              <a:t>KPI</a:t>
            </a:r>
          </a:p>
          <a:p>
            <a:pPr fontAlgn="b">
              <a:lnSpc>
                <a:spcPct val="150000"/>
              </a:lnSpc>
            </a:pPr>
            <a:r>
              <a:rPr lang="en-US" dirty="0"/>
              <a:t>Visual Insights</a:t>
            </a:r>
          </a:p>
          <a:p>
            <a:pPr fontAlgn="b">
              <a:lnSpc>
                <a:spcPct val="150000"/>
              </a:lnSpc>
            </a:pPr>
            <a:r>
              <a:rPr lang="en-US" dirty="0"/>
              <a:t>Dashboards</a:t>
            </a:r>
          </a:p>
          <a:p>
            <a:pPr fontAlgn="b">
              <a:lnSpc>
                <a:spcPct val="150000"/>
              </a:lnSpc>
            </a:pPr>
            <a:r>
              <a:rPr lang="en-US" dirty="0"/>
              <a:t>Conclusion &amp; Recommendations</a:t>
            </a:r>
          </a:p>
          <a:p>
            <a:pPr fontAlgn="b">
              <a:lnSpc>
                <a:spcPct val="150000"/>
              </a:lnSpc>
            </a:pPr>
            <a:endParaRPr lang="en-US" dirty="0"/>
          </a:p>
          <a:p>
            <a:pPr fontAlgn="b">
              <a:lnSpc>
                <a:spcPct val="150000"/>
              </a:lnSpc>
            </a:pPr>
            <a:endParaRPr lang="en-US" dirty="0"/>
          </a:p>
          <a:p>
            <a:pPr fontAlgn="b">
              <a:lnSpc>
                <a:spcPct val="150000"/>
              </a:lnSpc>
            </a:pPr>
            <a:endParaRPr lang="en-US" dirty="0"/>
          </a:p>
        </p:txBody>
      </p:sp>
    </p:spTree>
    <p:extLst>
      <p:ext uri="{BB962C8B-B14F-4D97-AF65-F5344CB8AC3E}">
        <p14:creationId xmlns:p14="http://schemas.microsoft.com/office/powerpoint/2010/main" val="268204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E02B1-C933-481D-9F20-3A9300760BC8}"/>
              </a:ext>
            </a:extLst>
          </p:cNvPr>
          <p:cNvSpPr>
            <a:spLocks noGrp="1"/>
          </p:cNvSpPr>
          <p:nvPr>
            <p:ph type="title"/>
          </p:nvPr>
        </p:nvSpPr>
        <p:spPr>
          <a:xfrm>
            <a:off x="2592924" y="624110"/>
            <a:ext cx="8911687" cy="903032"/>
          </a:xfrm>
        </p:spPr>
        <p:txBody>
          <a:bodyPr/>
          <a:lstStyle/>
          <a:p>
            <a:r>
              <a:rPr lang="en-US" dirty="0"/>
              <a:t>Bank Loan Dashboard</a:t>
            </a:r>
          </a:p>
        </p:txBody>
      </p:sp>
      <p:pic>
        <p:nvPicPr>
          <p:cNvPr id="2052" name="Picture 4" descr="Bank Loan Services at ₹ 1000/day | Indore | ID: 2851857062030">
            <a:extLst>
              <a:ext uri="{FF2B5EF4-FFF2-40B4-BE49-F238E27FC236}">
                <a16:creationId xmlns:a16="http://schemas.microsoft.com/office/drawing/2014/main" id="{32CA5021-9DE0-452F-A422-F5B35FFB1F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2923" y="1868129"/>
            <a:ext cx="8911687" cy="4542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1726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79A96-3E13-4740-B9CA-B1A3E36FEFDF}"/>
              </a:ext>
            </a:extLst>
          </p:cNvPr>
          <p:cNvSpPr>
            <a:spLocks noGrp="1"/>
          </p:cNvSpPr>
          <p:nvPr>
            <p:ph type="title"/>
          </p:nvPr>
        </p:nvSpPr>
        <p:spPr>
          <a:xfrm>
            <a:off x="2592925" y="624110"/>
            <a:ext cx="8911687" cy="799337"/>
          </a:xfrm>
        </p:spPr>
        <p:txBody>
          <a:bodyPr/>
          <a:lstStyle/>
          <a:p>
            <a:r>
              <a:rPr lang="en-US" dirty="0"/>
              <a:t>Introduction </a:t>
            </a:r>
          </a:p>
        </p:txBody>
      </p:sp>
      <p:sp>
        <p:nvSpPr>
          <p:cNvPr id="3" name="Content Placeholder 2">
            <a:extLst>
              <a:ext uri="{FF2B5EF4-FFF2-40B4-BE49-F238E27FC236}">
                <a16:creationId xmlns:a16="http://schemas.microsoft.com/office/drawing/2014/main" id="{1F777529-C0E6-4AC5-8660-CFA14F51C2EC}"/>
              </a:ext>
            </a:extLst>
          </p:cNvPr>
          <p:cNvSpPr>
            <a:spLocks noGrp="1"/>
          </p:cNvSpPr>
          <p:nvPr>
            <p:ph idx="1"/>
          </p:nvPr>
        </p:nvSpPr>
        <p:spPr>
          <a:xfrm>
            <a:off x="2589212" y="2253006"/>
            <a:ext cx="8915400" cy="3980884"/>
          </a:xfrm>
        </p:spPr>
        <p:txBody>
          <a:bodyPr>
            <a:normAutofit/>
          </a:bodyPr>
          <a:lstStyle/>
          <a:p>
            <a:pPr algn="just"/>
            <a:r>
              <a:rPr lang="en-US" sz="2000" dirty="0"/>
              <a:t>The Bank Loan Dashboard is created to get a clear and quick understanding of all the loan-related activities in a bank. It helps to see how loans are being disbursed, how much has been repaid, and which areas or branches are performing better. By showing all this information in one place, the dashboard makes it easier to track performance, identify risks, and take better decisions. It basically turns raw loan data into useful insights that can help in improving efficiency and managing the loan process more effectively.</a:t>
            </a:r>
          </a:p>
        </p:txBody>
      </p:sp>
    </p:spTree>
    <p:extLst>
      <p:ext uri="{BB962C8B-B14F-4D97-AF65-F5344CB8AC3E}">
        <p14:creationId xmlns:p14="http://schemas.microsoft.com/office/powerpoint/2010/main" val="229984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391E4-1430-4CB1-BA30-AAE71E5D86A9}"/>
              </a:ext>
            </a:extLst>
          </p:cNvPr>
          <p:cNvSpPr>
            <a:spLocks noGrp="1"/>
          </p:cNvSpPr>
          <p:nvPr>
            <p:ph type="title"/>
          </p:nvPr>
        </p:nvSpPr>
        <p:spPr>
          <a:xfrm>
            <a:off x="2592925" y="624110"/>
            <a:ext cx="8911687" cy="837045"/>
          </a:xfrm>
        </p:spPr>
        <p:txBody>
          <a:bodyPr/>
          <a:lstStyle/>
          <a:p>
            <a:r>
              <a:rPr lang="en-US" dirty="0"/>
              <a:t>Goals &amp; Purpose</a:t>
            </a:r>
          </a:p>
        </p:txBody>
      </p:sp>
      <p:sp>
        <p:nvSpPr>
          <p:cNvPr id="3" name="Content Placeholder 2">
            <a:extLst>
              <a:ext uri="{FF2B5EF4-FFF2-40B4-BE49-F238E27FC236}">
                <a16:creationId xmlns:a16="http://schemas.microsoft.com/office/drawing/2014/main" id="{F36C9341-6022-4438-9E5F-7956FAFD354E}"/>
              </a:ext>
            </a:extLst>
          </p:cNvPr>
          <p:cNvSpPr>
            <a:spLocks noGrp="1"/>
          </p:cNvSpPr>
          <p:nvPr>
            <p:ph idx="1"/>
          </p:nvPr>
        </p:nvSpPr>
        <p:spPr>
          <a:xfrm>
            <a:off x="2434670" y="2179748"/>
            <a:ext cx="8915400" cy="3438627"/>
          </a:xfrm>
        </p:spPr>
        <p:txBody>
          <a:bodyPr/>
          <a:lstStyle/>
          <a:p>
            <a:pPr algn="just"/>
            <a:r>
              <a:rPr lang="en-US" dirty="0"/>
              <a:t>The main goal and purpose of the Bank Loan Dashboard is to keep track of how the bank’s loan system is performing and to make better decisions using data. </a:t>
            </a:r>
          </a:p>
          <a:p>
            <a:pPr algn="just"/>
            <a:r>
              <a:rPr lang="en-US" dirty="0"/>
              <a:t>It helps in monitoring loan disbursements, repayments, and recoveries in an easy and visual way. It is designed to show how different branches, customers, and officers are performing, and where improvements are needed.  </a:t>
            </a:r>
          </a:p>
          <a:p>
            <a:pPr algn="just"/>
            <a:r>
              <a:rPr lang="en-US" dirty="0"/>
              <a:t>Overall, the purpose is to make banking operations more transparent, efficient, and data-driven so that management can plan strategies, reduce risks, and improve overall loan performance.</a:t>
            </a:r>
          </a:p>
        </p:txBody>
      </p:sp>
    </p:spTree>
    <p:extLst>
      <p:ext uri="{BB962C8B-B14F-4D97-AF65-F5344CB8AC3E}">
        <p14:creationId xmlns:p14="http://schemas.microsoft.com/office/powerpoint/2010/main" val="3470603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6D846-841E-47F9-9B8E-7B9318A87A3F}"/>
              </a:ext>
            </a:extLst>
          </p:cNvPr>
          <p:cNvSpPr>
            <a:spLocks noGrp="1"/>
          </p:cNvSpPr>
          <p:nvPr>
            <p:ph type="title"/>
          </p:nvPr>
        </p:nvSpPr>
        <p:spPr>
          <a:xfrm>
            <a:off x="2592925" y="624110"/>
            <a:ext cx="8911687" cy="789911"/>
          </a:xfrm>
        </p:spPr>
        <p:txBody>
          <a:bodyPr/>
          <a:lstStyle/>
          <a:p>
            <a:r>
              <a:rPr lang="en-US" dirty="0"/>
              <a:t>Data Description</a:t>
            </a:r>
          </a:p>
        </p:txBody>
      </p:sp>
      <p:sp>
        <p:nvSpPr>
          <p:cNvPr id="3" name="Content Placeholder 2">
            <a:extLst>
              <a:ext uri="{FF2B5EF4-FFF2-40B4-BE49-F238E27FC236}">
                <a16:creationId xmlns:a16="http://schemas.microsoft.com/office/drawing/2014/main" id="{1BF9D43C-DC5F-40E3-866F-09C996FEAC3C}"/>
              </a:ext>
            </a:extLst>
          </p:cNvPr>
          <p:cNvSpPr>
            <a:spLocks noGrp="1"/>
          </p:cNvSpPr>
          <p:nvPr>
            <p:ph idx="1"/>
          </p:nvPr>
        </p:nvSpPr>
        <p:spPr>
          <a:xfrm>
            <a:off x="2513798" y="1973344"/>
            <a:ext cx="8915400" cy="3984396"/>
          </a:xfrm>
        </p:spPr>
        <p:txBody>
          <a:bodyPr/>
          <a:lstStyle/>
          <a:p>
            <a:pPr algn="just"/>
            <a:r>
              <a:rPr lang="en-US" dirty="0"/>
              <a:t>The dataset used for this dashboard contains detailed information about different loan accounts from multiple branches and states. </a:t>
            </a:r>
          </a:p>
          <a:p>
            <a:pPr algn="just"/>
            <a:r>
              <a:rPr lang="en-US" dirty="0"/>
              <a:t>Each row in the dataset represents one customer’s loan record, including personal details, loan amount, interest rate, payments, and recoveries. It also has information about the branch, field officer, and city where the loan was issued. </a:t>
            </a:r>
          </a:p>
          <a:p>
            <a:pPr algn="just"/>
            <a:r>
              <a:rPr lang="en-US" dirty="0"/>
              <a:t>The data includes around 50+ columns, covering everything from customer demographics to repayment details. </a:t>
            </a:r>
          </a:p>
          <a:p>
            <a:pPr algn="just"/>
            <a:r>
              <a:rPr lang="en-US" dirty="0"/>
              <a:t>This dataset helps in understanding how loans are performing, how much money has been collected, and how different branches or regions are doing.</a:t>
            </a:r>
          </a:p>
        </p:txBody>
      </p:sp>
    </p:spTree>
    <p:extLst>
      <p:ext uri="{BB962C8B-B14F-4D97-AF65-F5344CB8AC3E}">
        <p14:creationId xmlns:p14="http://schemas.microsoft.com/office/powerpoint/2010/main" val="3171437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E9A15-732D-40FE-9326-89B484F7620B}"/>
              </a:ext>
            </a:extLst>
          </p:cNvPr>
          <p:cNvSpPr>
            <a:spLocks noGrp="1"/>
          </p:cNvSpPr>
          <p:nvPr>
            <p:ph type="title"/>
          </p:nvPr>
        </p:nvSpPr>
        <p:spPr>
          <a:xfrm>
            <a:off x="2592925" y="624110"/>
            <a:ext cx="8911687" cy="714496"/>
          </a:xfrm>
        </p:spPr>
        <p:txBody>
          <a:bodyPr/>
          <a:lstStyle/>
          <a:p>
            <a:r>
              <a:rPr lang="en-US" dirty="0"/>
              <a:t>Data Cleaning</a:t>
            </a:r>
          </a:p>
        </p:txBody>
      </p:sp>
      <p:sp>
        <p:nvSpPr>
          <p:cNvPr id="3" name="Content Placeholder 2">
            <a:extLst>
              <a:ext uri="{FF2B5EF4-FFF2-40B4-BE49-F238E27FC236}">
                <a16:creationId xmlns:a16="http://schemas.microsoft.com/office/drawing/2014/main" id="{458AF7E4-0FF2-4F8F-AE4F-BAAF3474610F}"/>
              </a:ext>
            </a:extLst>
          </p:cNvPr>
          <p:cNvSpPr>
            <a:spLocks noGrp="1"/>
          </p:cNvSpPr>
          <p:nvPr>
            <p:ph idx="1"/>
          </p:nvPr>
        </p:nvSpPr>
        <p:spPr>
          <a:xfrm>
            <a:off x="2589212" y="1338607"/>
            <a:ext cx="8915400" cy="4572616"/>
          </a:xfrm>
        </p:spPr>
        <p:txBody>
          <a:bodyPr>
            <a:normAutofit/>
          </a:bodyPr>
          <a:lstStyle/>
          <a:p>
            <a:pPr marL="0" indent="0" algn="just">
              <a:buNone/>
            </a:pPr>
            <a:endParaRPr lang="en-US" dirty="0"/>
          </a:p>
          <a:p>
            <a:pPr algn="just"/>
            <a:r>
              <a:rPr lang="en-US" dirty="0"/>
              <a:t>Removing Blank :- First, we identified and replaced all missing or blank values with "NA" to maintain consistency and prevent calculation errors. </a:t>
            </a:r>
          </a:p>
          <a:p>
            <a:pPr algn="just"/>
            <a:r>
              <a:rPr lang="en-US" dirty="0"/>
              <a:t>Changing data type :- We corrected data types - for example, the disbursement date column was initially in text format, so we converted it into a proper date format to perform time-based analysis like monthly or yearly trends.</a:t>
            </a:r>
          </a:p>
          <a:p>
            <a:pPr algn="just"/>
            <a:r>
              <a:rPr lang="en-US" dirty="0"/>
              <a:t>We also standardized text entries in categorical columns such as loan status and branch name to remove duplicates caused by spelling variations or extra spaces.</a:t>
            </a:r>
          </a:p>
          <a:p>
            <a:pPr algn="just"/>
            <a:r>
              <a:rPr lang="en-US" dirty="0"/>
              <a:t>Outliers and irrelevant records were reviewed and handled carefully to keep the data realistic and reliable.</a:t>
            </a:r>
          </a:p>
          <a:p>
            <a:pPr algn="just"/>
            <a:r>
              <a:rPr lang="en-US" dirty="0"/>
              <a:t>Finally, We verified that all fields were properly formatted and cleaned, making the dataset ready for visualization and further analysis.</a:t>
            </a:r>
          </a:p>
        </p:txBody>
      </p:sp>
    </p:spTree>
    <p:extLst>
      <p:ext uri="{BB962C8B-B14F-4D97-AF65-F5344CB8AC3E}">
        <p14:creationId xmlns:p14="http://schemas.microsoft.com/office/powerpoint/2010/main" val="2802481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CA71C-0F7D-454F-8ECC-736EF1247021}"/>
              </a:ext>
            </a:extLst>
          </p:cNvPr>
          <p:cNvSpPr>
            <a:spLocks noGrp="1"/>
          </p:cNvSpPr>
          <p:nvPr>
            <p:ph type="title"/>
          </p:nvPr>
        </p:nvSpPr>
        <p:spPr>
          <a:xfrm>
            <a:off x="2592925" y="624110"/>
            <a:ext cx="8911687" cy="667362"/>
          </a:xfrm>
        </p:spPr>
        <p:txBody>
          <a:bodyPr/>
          <a:lstStyle/>
          <a:p>
            <a:r>
              <a:rPr lang="en-US" dirty="0"/>
              <a:t>KPI</a:t>
            </a:r>
          </a:p>
        </p:txBody>
      </p:sp>
      <p:sp>
        <p:nvSpPr>
          <p:cNvPr id="3" name="Content Placeholder 2">
            <a:extLst>
              <a:ext uri="{FF2B5EF4-FFF2-40B4-BE49-F238E27FC236}">
                <a16:creationId xmlns:a16="http://schemas.microsoft.com/office/drawing/2014/main" id="{90A3F4E7-7CA7-429C-A259-B8A4260D76F2}"/>
              </a:ext>
            </a:extLst>
          </p:cNvPr>
          <p:cNvSpPr>
            <a:spLocks noGrp="1"/>
          </p:cNvSpPr>
          <p:nvPr>
            <p:ph idx="1"/>
          </p:nvPr>
        </p:nvSpPr>
        <p:spPr>
          <a:xfrm>
            <a:off x="2589212" y="1828800"/>
            <a:ext cx="8915400" cy="4082422"/>
          </a:xfrm>
        </p:spPr>
        <p:txBody>
          <a:bodyPr/>
          <a:lstStyle/>
          <a:p>
            <a:pPr algn="just"/>
            <a:r>
              <a:rPr lang="en-US" b="1" dirty="0"/>
              <a:t>The Total Loan Applications : 65,535 </a:t>
            </a:r>
            <a:r>
              <a:rPr lang="en-US" dirty="0"/>
              <a:t>show the overall demand for loans.</a:t>
            </a:r>
          </a:p>
          <a:p>
            <a:pPr algn="just"/>
            <a:r>
              <a:rPr lang="en-US" b="1" dirty="0"/>
              <a:t>The Total Funded Amount : ₹732.7M </a:t>
            </a:r>
            <a:r>
              <a:rPr lang="en-US" dirty="0"/>
              <a:t>represents the total value of loans disbursed to customers. </a:t>
            </a:r>
          </a:p>
          <a:p>
            <a:pPr algn="just"/>
            <a:r>
              <a:rPr lang="en-US" b="1" dirty="0"/>
              <a:t>The Total Amount Received : ₹814.9M </a:t>
            </a:r>
            <a:r>
              <a:rPr lang="en-US" dirty="0"/>
              <a:t>indicates the repayment collected from borrowers. </a:t>
            </a:r>
          </a:p>
          <a:p>
            <a:pPr algn="just"/>
            <a:r>
              <a:rPr lang="en-US" b="1" dirty="0"/>
              <a:t>The Average Interest Rate : 12%</a:t>
            </a:r>
            <a:r>
              <a:rPr lang="en-US" dirty="0"/>
              <a:t> helps understand the bank’s lending terms. </a:t>
            </a:r>
          </a:p>
          <a:p>
            <a:pPr algn="just"/>
            <a:r>
              <a:rPr lang="en-US" b="1" dirty="0"/>
              <a:t>The Total Recovered Amount : ₹6.5M </a:t>
            </a:r>
            <a:r>
              <a:rPr lang="en-US" dirty="0"/>
              <a:t>shows how much has been recovered from previously defaulted loans.</a:t>
            </a:r>
          </a:p>
        </p:txBody>
      </p:sp>
    </p:spTree>
    <p:extLst>
      <p:ext uri="{BB962C8B-B14F-4D97-AF65-F5344CB8AC3E}">
        <p14:creationId xmlns:p14="http://schemas.microsoft.com/office/powerpoint/2010/main" val="2624964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26C2E-2C4D-4C51-B66E-B2ABFEBD4D72}"/>
              </a:ext>
            </a:extLst>
          </p:cNvPr>
          <p:cNvSpPr>
            <a:spLocks noGrp="1"/>
          </p:cNvSpPr>
          <p:nvPr>
            <p:ph type="title"/>
          </p:nvPr>
        </p:nvSpPr>
        <p:spPr>
          <a:xfrm>
            <a:off x="2592924" y="624110"/>
            <a:ext cx="8911687" cy="648923"/>
          </a:xfrm>
        </p:spPr>
        <p:txBody>
          <a:bodyPr/>
          <a:lstStyle/>
          <a:p>
            <a:r>
              <a:rPr lang="en-US" dirty="0"/>
              <a:t>Visual Insights</a:t>
            </a:r>
          </a:p>
        </p:txBody>
      </p:sp>
      <p:pic>
        <p:nvPicPr>
          <p:cNvPr id="7" name="Content Placeholder 6">
            <a:extLst>
              <a:ext uri="{FF2B5EF4-FFF2-40B4-BE49-F238E27FC236}">
                <a16:creationId xmlns:a16="http://schemas.microsoft.com/office/drawing/2014/main" id="{7ABBC033-AFBB-445A-A9B0-38ED527E0091}"/>
              </a:ext>
            </a:extLst>
          </p:cNvPr>
          <p:cNvPicPr>
            <a:picLocks noGrp="1" noChangeAspect="1"/>
          </p:cNvPicPr>
          <p:nvPr>
            <p:ph sz="half" idx="1"/>
          </p:nvPr>
        </p:nvPicPr>
        <p:blipFill>
          <a:blip r:embed="rId2"/>
          <a:stretch>
            <a:fillRect/>
          </a:stretch>
        </p:blipFill>
        <p:spPr>
          <a:xfrm>
            <a:off x="2592924" y="1447658"/>
            <a:ext cx="4313237" cy="1348881"/>
          </a:xfrm>
          <a:prstGeom prst="rect">
            <a:avLst/>
          </a:prstGeom>
        </p:spPr>
      </p:pic>
      <p:pic>
        <p:nvPicPr>
          <p:cNvPr id="15" name="Content Placeholder 14">
            <a:extLst>
              <a:ext uri="{FF2B5EF4-FFF2-40B4-BE49-F238E27FC236}">
                <a16:creationId xmlns:a16="http://schemas.microsoft.com/office/drawing/2014/main" id="{8D87E6B9-91EB-4870-8E64-B6A1D7919A6D}"/>
              </a:ext>
            </a:extLst>
          </p:cNvPr>
          <p:cNvPicPr>
            <a:picLocks noGrp="1" noChangeAspect="1"/>
          </p:cNvPicPr>
          <p:nvPr>
            <p:ph sz="half" idx="2"/>
          </p:nvPr>
        </p:nvPicPr>
        <p:blipFill>
          <a:blip r:embed="rId3"/>
          <a:stretch>
            <a:fillRect/>
          </a:stretch>
        </p:blipFill>
        <p:spPr>
          <a:xfrm>
            <a:off x="7674757" y="1447658"/>
            <a:ext cx="3848637" cy="2081908"/>
          </a:xfrm>
          <a:prstGeom prst="rect">
            <a:avLst/>
          </a:prstGeom>
        </p:spPr>
      </p:pic>
      <p:sp>
        <p:nvSpPr>
          <p:cNvPr id="8" name="TextBox 7">
            <a:extLst>
              <a:ext uri="{FF2B5EF4-FFF2-40B4-BE49-F238E27FC236}">
                <a16:creationId xmlns:a16="http://schemas.microsoft.com/office/drawing/2014/main" id="{D6DA4DFC-69DC-41D9-B46C-00A26413AF82}"/>
              </a:ext>
            </a:extLst>
          </p:cNvPr>
          <p:cNvSpPr txBox="1"/>
          <p:nvPr/>
        </p:nvSpPr>
        <p:spPr>
          <a:xfrm>
            <a:off x="2592924" y="3742441"/>
            <a:ext cx="4313237" cy="2161403"/>
          </a:xfrm>
          <a:prstGeom prst="rect">
            <a:avLst/>
          </a:prstGeom>
          <a:noFill/>
        </p:spPr>
        <p:txBody>
          <a:bodyPr wrap="square" rtlCol="0">
            <a:spAutoFit/>
          </a:bodyPr>
          <a:lstStyle/>
          <a:p>
            <a:endParaRPr lang="en-US" dirty="0"/>
          </a:p>
        </p:txBody>
      </p:sp>
      <p:sp>
        <p:nvSpPr>
          <p:cNvPr id="12" name="Rectangle 4">
            <a:extLst>
              <a:ext uri="{FF2B5EF4-FFF2-40B4-BE49-F238E27FC236}">
                <a16:creationId xmlns:a16="http://schemas.microsoft.com/office/drawing/2014/main" id="{3E8E015A-9C18-4FDC-9DE7-C67B321D8FD8}"/>
              </a:ext>
            </a:extLst>
          </p:cNvPr>
          <p:cNvSpPr>
            <a:spLocks noChangeArrowheads="1"/>
          </p:cNvSpPr>
          <p:nvPr/>
        </p:nvSpPr>
        <p:spPr bwMode="auto">
          <a:xfrm>
            <a:off x="2592924" y="2755459"/>
            <a:ext cx="431323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rPr>
              <a:t>About </a:t>
            </a:r>
            <a:r>
              <a:rPr kumimoji="0" lang="en-US" altLang="en-US" sz="1800" b="1" i="0" u="none" strike="noStrike" cap="none" normalizeH="0" baseline="0" dirty="0">
                <a:ln>
                  <a:noFill/>
                </a:ln>
                <a:solidFill>
                  <a:schemeClr val="tx1"/>
                </a:solidFill>
                <a:effectLst/>
              </a:rPr>
              <a:t>98.13%</a:t>
            </a:r>
            <a:r>
              <a:rPr kumimoji="0" lang="en-US" altLang="en-US" sz="1800" b="0" i="0" u="none" strike="noStrike" cap="none" normalizeH="0" baseline="0" dirty="0">
                <a:ln>
                  <a:noFill/>
                </a:ln>
                <a:solidFill>
                  <a:schemeClr val="tx1"/>
                </a:solidFill>
                <a:effectLst/>
              </a:rPr>
              <a:t> of the total applications were good loans, meaning most loans were successfully funded and repaid. This shows strong credit quality and effective loan screening.</a:t>
            </a:r>
          </a:p>
        </p:txBody>
      </p:sp>
      <p:sp>
        <p:nvSpPr>
          <p:cNvPr id="14" name="Rectangle 6">
            <a:extLst>
              <a:ext uri="{FF2B5EF4-FFF2-40B4-BE49-F238E27FC236}">
                <a16:creationId xmlns:a16="http://schemas.microsoft.com/office/drawing/2014/main" id="{DEC1F0C7-CFB4-4D86-8445-BAFDE88EB84E}"/>
              </a:ext>
            </a:extLst>
          </p:cNvPr>
          <p:cNvSpPr>
            <a:spLocks noChangeArrowheads="1"/>
          </p:cNvSpPr>
          <p:nvPr/>
        </p:nvSpPr>
        <p:spPr bwMode="auto">
          <a:xfrm>
            <a:off x="2505951" y="4202565"/>
            <a:ext cx="454250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i="0" u="none" strike="noStrike" cap="none" normalizeH="0" baseline="0" dirty="0">
              <a:ln>
                <a:noFill/>
              </a:ln>
              <a:solidFill>
                <a:schemeClr val="tx1"/>
              </a:solidFill>
              <a:effectLst/>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cs typeface="Times New Roman" panose="02020603050405020304" pitchFamily="18" charset="0"/>
              </a:rPr>
              <a:t>Bad loans</a:t>
            </a:r>
            <a:r>
              <a:rPr kumimoji="0" lang="en-US" altLang="en-US" i="0" u="none" strike="noStrike" cap="none" normalizeH="0" baseline="0" dirty="0">
                <a:ln>
                  <a:noFill/>
                </a:ln>
                <a:solidFill>
                  <a:schemeClr val="tx1"/>
                </a:solidFill>
                <a:effectLst/>
                <a:cs typeface="Times New Roman" panose="02020603050405020304" pitchFamily="18" charset="0"/>
              </a:rPr>
              <a:t>1.87% of loans turned out to be bad, representing defaults or non-performing loans. This small percentage indicates efficient risk management and good borrower selection.</a:t>
            </a:r>
          </a:p>
        </p:txBody>
      </p:sp>
      <p:sp>
        <p:nvSpPr>
          <p:cNvPr id="16" name="TextBox 15">
            <a:extLst>
              <a:ext uri="{FF2B5EF4-FFF2-40B4-BE49-F238E27FC236}">
                <a16:creationId xmlns:a16="http://schemas.microsoft.com/office/drawing/2014/main" id="{6FF556E0-64A5-4661-A819-482168501FD6}"/>
              </a:ext>
            </a:extLst>
          </p:cNvPr>
          <p:cNvSpPr txBox="1"/>
          <p:nvPr/>
        </p:nvSpPr>
        <p:spPr>
          <a:xfrm>
            <a:off x="7674757" y="3632622"/>
            <a:ext cx="3848637" cy="2862322"/>
          </a:xfrm>
          <a:prstGeom prst="rect">
            <a:avLst/>
          </a:prstGeom>
          <a:noFill/>
        </p:spPr>
        <p:txBody>
          <a:bodyPr wrap="square" rtlCol="0">
            <a:spAutoFit/>
          </a:bodyPr>
          <a:lstStyle/>
          <a:p>
            <a:pPr algn="just"/>
            <a:r>
              <a:rPr lang="en-US" dirty="0"/>
              <a:t>The chart shows monthly loan trends where the highest applications occurred in </a:t>
            </a:r>
            <a:r>
              <a:rPr lang="en-US" b="1" dirty="0"/>
              <a:t>March (13.1K)</a:t>
            </a:r>
            <a:r>
              <a:rPr lang="en-US" dirty="0"/>
              <a:t> and the lowest in </a:t>
            </a:r>
            <a:r>
              <a:rPr lang="en-US" b="1" dirty="0"/>
              <a:t>April (1.6K)</a:t>
            </a:r>
            <a:r>
              <a:rPr lang="en-US" dirty="0"/>
              <a:t>. Loan demand peaks again in </a:t>
            </a:r>
            <a:r>
              <a:rPr lang="en-US" b="1" dirty="0"/>
              <a:t>September (9.4K)</a:t>
            </a:r>
            <a:r>
              <a:rPr lang="en-US" dirty="0"/>
              <a:t>, highlighting seasonal variations and helping the bank identify high-demand months for better planning.</a:t>
            </a:r>
          </a:p>
        </p:txBody>
      </p:sp>
    </p:spTree>
    <p:extLst>
      <p:ext uri="{BB962C8B-B14F-4D97-AF65-F5344CB8AC3E}">
        <p14:creationId xmlns:p14="http://schemas.microsoft.com/office/powerpoint/2010/main" val="683810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89BEC-4B45-40C0-9038-B6F9B201BB32}"/>
              </a:ext>
            </a:extLst>
          </p:cNvPr>
          <p:cNvSpPr>
            <a:spLocks noGrp="1"/>
          </p:cNvSpPr>
          <p:nvPr>
            <p:ph type="title"/>
          </p:nvPr>
        </p:nvSpPr>
        <p:spPr>
          <a:xfrm>
            <a:off x="2592924" y="624110"/>
            <a:ext cx="8911687" cy="648509"/>
          </a:xfrm>
        </p:spPr>
        <p:txBody>
          <a:bodyPr/>
          <a:lstStyle/>
          <a:p>
            <a:r>
              <a:rPr lang="en-US" dirty="0"/>
              <a:t>KPI</a:t>
            </a:r>
          </a:p>
        </p:txBody>
      </p:sp>
      <p:pic>
        <p:nvPicPr>
          <p:cNvPr id="5" name="Content Placeholder 4">
            <a:extLst>
              <a:ext uri="{FF2B5EF4-FFF2-40B4-BE49-F238E27FC236}">
                <a16:creationId xmlns:a16="http://schemas.microsoft.com/office/drawing/2014/main" id="{EA98A2F8-15C5-444F-94F9-C356D494F0DF}"/>
              </a:ext>
            </a:extLst>
          </p:cNvPr>
          <p:cNvPicPr>
            <a:picLocks noGrp="1" noChangeAspect="1"/>
          </p:cNvPicPr>
          <p:nvPr>
            <p:ph sz="half" idx="1"/>
          </p:nvPr>
        </p:nvPicPr>
        <p:blipFill>
          <a:blip r:embed="rId2"/>
          <a:stretch>
            <a:fillRect/>
          </a:stretch>
        </p:blipFill>
        <p:spPr>
          <a:xfrm>
            <a:off x="2592924" y="1626601"/>
            <a:ext cx="2620652" cy="1936731"/>
          </a:xfrm>
          <a:prstGeom prst="rect">
            <a:avLst/>
          </a:prstGeom>
        </p:spPr>
      </p:pic>
      <p:pic>
        <p:nvPicPr>
          <p:cNvPr id="6" name="Content Placeholder 5">
            <a:extLst>
              <a:ext uri="{FF2B5EF4-FFF2-40B4-BE49-F238E27FC236}">
                <a16:creationId xmlns:a16="http://schemas.microsoft.com/office/drawing/2014/main" id="{09F73BE7-1E3D-499D-9155-10A7FD800910}"/>
              </a:ext>
            </a:extLst>
          </p:cNvPr>
          <p:cNvPicPr>
            <a:picLocks noGrp="1" noChangeAspect="1"/>
          </p:cNvPicPr>
          <p:nvPr>
            <p:ph sz="half" idx="2"/>
          </p:nvPr>
        </p:nvPicPr>
        <p:blipFill>
          <a:blip r:embed="rId3"/>
          <a:stretch>
            <a:fillRect/>
          </a:stretch>
        </p:blipFill>
        <p:spPr>
          <a:xfrm>
            <a:off x="2592924" y="4050134"/>
            <a:ext cx="2620652" cy="2362530"/>
          </a:xfrm>
          <a:prstGeom prst="rect">
            <a:avLst/>
          </a:prstGeom>
        </p:spPr>
      </p:pic>
      <p:sp>
        <p:nvSpPr>
          <p:cNvPr id="7" name="TextBox 6">
            <a:extLst>
              <a:ext uri="{FF2B5EF4-FFF2-40B4-BE49-F238E27FC236}">
                <a16:creationId xmlns:a16="http://schemas.microsoft.com/office/drawing/2014/main" id="{380834D7-1301-4F8F-B988-EA5079BB3588}"/>
              </a:ext>
            </a:extLst>
          </p:cNvPr>
          <p:cNvSpPr txBox="1"/>
          <p:nvPr/>
        </p:nvSpPr>
        <p:spPr>
          <a:xfrm>
            <a:off x="6004874" y="1555423"/>
            <a:ext cx="5499737" cy="1754326"/>
          </a:xfrm>
          <a:prstGeom prst="rect">
            <a:avLst/>
          </a:prstGeom>
          <a:noFill/>
        </p:spPr>
        <p:txBody>
          <a:bodyPr wrap="square" rtlCol="0">
            <a:spAutoFit/>
          </a:bodyPr>
          <a:lstStyle/>
          <a:p>
            <a:pPr algn="just"/>
            <a:r>
              <a:rPr lang="en-US" dirty="0"/>
              <a:t>This chart shows that </a:t>
            </a:r>
            <a:r>
              <a:rPr lang="en-US" b="1" dirty="0"/>
              <a:t>36-month loans</a:t>
            </a:r>
            <a:r>
              <a:rPr lang="en-US" dirty="0"/>
              <a:t> are the most common, making up </a:t>
            </a:r>
            <a:r>
              <a:rPr lang="en-US" b="1" dirty="0"/>
              <a:t>69.95% (46K)</a:t>
            </a:r>
            <a:r>
              <a:rPr lang="en-US" dirty="0"/>
              <a:t> of total loans, while </a:t>
            </a:r>
            <a:r>
              <a:rPr lang="en-US" b="1" dirty="0"/>
              <a:t>60-month loans</a:t>
            </a:r>
            <a:r>
              <a:rPr lang="en-US" dirty="0"/>
              <a:t> account for </a:t>
            </a:r>
            <a:r>
              <a:rPr lang="en-US" b="1" dirty="0"/>
              <a:t>30.05% (20K)</a:t>
            </a:r>
            <a:r>
              <a:rPr lang="en-US" dirty="0"/>
              <a:t>. This indicates that most borrowers prefer shorter repayment terms for quicker closure and lower risk.</a:t>
            </a:r>
          </a:p>
        </p:txBody>
      </p:sp>
      <p:sp>
        <p:nvSpPr>
          <p:cNvPr id="8" name="TextBox 7">
            <a:extLst>
              <a:ext uri="{FF2B5EF4-FFF2-40B4-BE49-F238E27FC236}">
                <a16:creationId xmlns:a16="http://schemas.microsoft.com/office/drawing/2014/main" id="{47A8A04D-83FC-4D74-B77B-9F3E7FD33097}"/>
              </a:ext>
            </a:extLst>
          </p:cNvPr>
          <p:cNvSpPr txBox="1"/>
          <p:nvPr/>
        </p:nvSpPr>
        <p:spPr>
          <a:xfrm>
            <a:off x="6096000" y="4050134"/>
            <a:ext cx="5517823" cy="1754326"/>
          </a:xfrm>
          <a:prstGeom prst="rect">
            <a:avLst/>
          </a:prstGeom>
          <a:noFill/>
        </p:spPr>
        <p:txBody>
          <a:bodyPr wrap="square" rtlCol="0">
            <a:spAutoFit/>
          </a:bodyPr>
          <a:lstStyle/>
          <a:p>
            <a:pPr algn="just"/>
            <a:r>
              <a:rPr lang="en-US" dirty="0"/>
              <a:t>The highest number of loans are taken by people aged </a:t>
            </a:r>
            <a:r>
              <a:rPr lang="en-US" b="1" dirty="0"/>
              <a:t>26–35 (24K)</a:t>
            </a:r>
            <a:r>
              <a:rPr lang="en-US" dirty="0"/>
              <a:t>, followed by </a:t>
            </a:r>
            <a:r>
              <a:rPr lang="en-US" b="1" dirty="0"/>
              <a:t>36–45 (21K)</a:t>
            </a:r>
            <a:r>
              <a:rPr lang="en-US" dirty="0"/>
              <a:t>. Younger borrowers (</a:t>
            </a:r>
            <a:r>
              <a:rPr lang="en-US" b="1" dirty="0"/>
              <a:t>18–25, 8K</a:t>
            </a:r>
            <a:r>
              <a:rPr lang="en-US" dirty="0"/>
              <a:t>) and older groups (</a:t>
            </a:r>
            <a:r>
              <a:rPr lang="en-US" b="1" dirty="0"/>
              <a:t>46–55, 12K; 56–63, 2K</a:t>
            </a:r>
            <a:r>
              <a:rPr lang="en-US" dirty="0"/>
              <a:t>) show fewer loans. This suggests that middle-aged adults are the most active in taking loans.</a:t>
            </a:r>
          </a:p>
        </p:txBody>
      </p:sp>
    </p:spTree>
    <p:extLst>
      <p:ext uri="{BB962C8B-B14F-4D97-AF65-F5344CB8AC3E}">
        <p14:creationId xmlns:p14="http://schemas.microsoft.com/office/powerpoint/2010/main" val="1632586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5A2A8-83A9-4E3A-BD17-CDC039804355}"/>
              </a:ext>
            </a:extLst>
          </p:cNvPr>
          <p:cNvSpPr>
            <a:spLocks noGrp="1"/>
          </p:cNvSpPr>
          <p:nvPr>
            <p:ph type="title"/>
          </p:nvPr>
        </p:nvSpPr>
        <p:spPr>
          <a:xfrm>
            <a:off x="2592924" y="624110"/>
            <a:ext cx="8911687" cy="573094"/>
          </a:xfrm>
        </p:spPr>
        <p:txBody>
          <a:bodyPr>
            <a:normAutofit fontScale="90000"/>
          </a:bodyPr>
          <a:lstStyle/>
          <a:p>
            <a:r>
              <a:rPr lang="en-US" dirty="0"/>
              <a:t>Excel Dashboard</a:t>
            </a:r>
          </a:p>
        </p:txBody>
      </p:sp>
      <p:pic>
        <p:nvPicPr>
          <p:cNvPr id="4" name="Picture 3">
            <a:extLst>
              <a:ext uri="{FF2B5EF4-FFF2-40B4-BE49-F238E27FC236}">
                <a16:creationId xmlns:a16="http://schemas.microsoft.com/office/drawing/2014/main" id="{1EC408F7-97C6-4786-927D-E74BBD43F1B8}"/>
              </a:ext>
            </a:extLst>
          </p:cNvPr>
          <p:cNvPicPr>
            <a:picLocks noChangeAspect="1"/>
          </p:cNvPicPr>
          <p:nvPr/>
        </p:nvPicPr>
        <p:blipFill>
          <a:blip r:embed="rId2"/>
          <a:stretch>
            <a:fillRect/>
          </a:stretch>
        </p:blipFill>
        <p:spPr>
          <a:xfrm>
            <a:off x="2670573" y="1376312"/>
            <a:ext cx="8911687" cy="5344631"/>
          </a:xfrm>
          <a:prstGeom prst="rect">
            <a:avLst/>
          </a:prstGeom>
        </p:spPr>
      </p:pic>
    </p:spTree>
    <p:extLst>
      <p:ext uri="{BB962C8B-B14F-4D97-AF65-F5344CB8AC3E}">
        <p14:creationId xmlns:p14="http://schemas.microsoft.com/office/powerpoint/2010/main" val="3322117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5A2A8-83A9-4E3A-BD17-CDC039804355}"/>
              </a:ext>
            </a:extLst>
          </p:cNvPr>
          <p:cNvSpPr>
            <a:spLocks noGrp="1"/>
          </p:cNvSpPr>
          <p:nvPr>
            <p:ph type="title"/>
          </p:nvPr>
        </p:nvSpPr>
        <p:spPr>
          <a:xfrm>
            <a:off x="2592924" y="624110"/>
            <a:ext cx="8911687" cy="573094"/>
          </a:xfrm>
        </p:spPr>
        <p:txBody>
          <a:bodyPr>
            <a:normAutofit fontScale="90000"/>
          </a:bodyPr>
          <a:lstStyle/>
          <a:p>
            <a:r>
              <a:rPr lang="en-US" dirty="0"/>
              <a:t>Power BI Dashboard</a:t>
            </a:r>
          </a:p>
        </p:txBody>
      </p:sp>
      <p:pic>
        <p:nvPicPr>
          <p:cNvPr id="11" name="Picture 10">
            <a:extLst>
              <a:ext uri="{FF2B5EF4-FFF2-40B4-BE49-F238E27FC236}">
                <a16:creationId xmlns:a16="http://schemas.microsoft.com/office/drawing/2014/main" id="{27D12A08-124E-40B1-A7AE-EC48B806C383}"/>
              </a:ext>
            </a:extLst>
          </p:cNvPr>
          <p:cNvPicPr>
            <a:picLocks noChangeAspect="1"/>
          </p:cNvPicPr>
          <p:nvPr/>
        </p:nvPicPr>
        <p:blipFill>
          <a:blip r:embed="rId2"/>
          <a:stretch>
            <a:fillRect/>
          </a:stretch>
        </p:blipFill>
        <p:spPr>
          <a:xfrm>
            <a:off x="1" y="1642912"/>
            <a:ext cx="4072380" cy="4899290"/>
          </a:xfrm>
          <a:prstGeom prst="rect">
            <a:avLst/>
          </a:prstGeom>
        </p:spPr>
      </p:pic>
      <p:pic>
        <p:nvPicPr>
          <p:cNvPr id="15" name="Picture 14">
            <a:extLst>
              <a:ext uri="{FF2B5EF4-FFF2-40B4-BE49-F238E27FC236}">
                <a16:creationId xmlns:a16="http://schemas.microsoft.com/office/drawing/2014/main" id="{1B0CAA38-D8FD-45B0-87ED-056739B51A2E}"/>
              </a:ext>
            </a:extLst>
          </p:cNvPr>
          <p:cNvPicPr>
            <a:picLocks noChangeAspect="1"/>
          </p:cNvPicPr>
          <p:nvPr/>
        </p:nvPicPr>
        <p:blipFill>
          <a:blip r:embed="rId3"/>
          <a:stretch>
            <a:fillRect/>
          </a:stretch>
        </p:blipFill>
        <p:spPr>
          <a:xfrm>
            <a:off x="8224887" y="1642912"/>
            <a:ext cx="3967112" cy="4912106"/>
          </a:xfrm>
          <a:prstGeom prst="rect">
            <a:avLst/>
          </a:prstGeom>
        </p:spPr>
      </p:pic>
      <p:pic>
        <p:nvPicPr>
          <p:cNvPr id="18" name="Picture 17">
            <a:extLst>
              <a:ext uri="{FF2B5EF4-FFF2-40B4-BE49-F238E27FC236}">
                <a16:creationId xmlns:a16="http://schemas.microsoft.com/office/drawing/2014/main" id="{EDD7A06E-E3F8-49D0-B5BC-E77C78563F6E}"/>
              </a:ext>
            </a:extLst>
          </p:cNvPr>
          <p:cNvPicPr>
            <a:picLocks noChangeAspect="1"/>
          </p:cNvPicPr>
          <p:nvPr/>
        </p:nvPicPr>
        <p:blipFill>
          <a:blip r:embed="rId4"/>
          <a:stretch>
            <a:fillRect/>
          </a:stretch>
        </p:blipFill>
        <p:spPr>
          <a:xfrm>
            <a:off x="4112443" y="1655727"/>
            <a:ext cx="4112443" cy="4873657"/>
          </a:xfrm>
          <a:prstGeom prst="rect">
            <a:avLst/>
          </a:prstGeom>
        </p:spPr>
      </p:pic>
    </p:spTree>
    <p:extLst>
      <p:ext uri="{BB962C8B-B14F-4D97-AF65-F5344CB8AC3E}">
        <p14:creationId xmlns:p14="http://schemas.microsoft.com/office/powerpoint/2010/main" val="2296226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5A2A8-83A9-4E3A-BD17-CDC039804355}"/>
              </a:ext>
            </a:extLst>
          </p:cNvPr>
          <p:cNvSpPr>
            <a:spLocks noGrp="1"/>
          </p:cNvSpPr>
          <p:nvPr>
            <p:ph type="title"/>
          </p:nvPr>
        </p:nvSpPr>
        <p:spPr>
          <a:xfrm>
            <a:off x="2592924" y="624110"/>
            <a:ext cx="8911687" cy="573094"/>
          </a:xfrm>
        </p:spPr>
        <p:txBody>
          <a:bodyPr>
            <a:normAutofit fontScale="90000"/>
          </a:bodyPr>
          <a:lstStyle/>
          <a:p>
            <a:r>
              <a:rPr lang="en-US" dirty="0"/>
              <a:t>Tableau Dashboard</a:t>
            </a:r>
          </a:p>
        </p:txBody>
      </p:sp>
      <p:pic>
        <p:nvPicPr>
          <p:cNvPr id="3" name="Picture 2">
            <a:extLst>
              <a:ext uri="{FF2B5EF4-FFF2-40B4-BE49-F238E27FC236}">
                <a16:creationId xmlns:a16="http://schemas.microsoft.com/office/drawing/2014/main" id="{A9B635EE-BF35-44E2-8B89-3930F7A85DCF}"/>
              </a:ext>
            </a:extLst>
          </p:cNvPr>
          <p:cNvPicPr>
            <a:picLocks noChangeAspect="1"/>
          </p:cNvPicPr>
          <p:nvPr/>
        </p:nvPicPr>
        <p:blipFill>
          <a:blip r:embed="rId2"/>
          <a:stretch>
            <a:fillRect/>
          </a:stretch>
        </p:blipFill>
        <p:spPr>
          <a:xfrm>
            <a:off x="147688" y="1831448"/>
            <a:ext cx="6139992" cy="4912106"/>
          </a:xfrm>
          <a:prstGeom prst="rect">
            <a:avLst/>
          </a:prstGeom>
        </p:spPr>
      </p:pic>
      <p:pic>
        <p:nvPicPr>
          <p:cNvPr id="4" name="Picture 3">
            <a:extLst>
              <a:ext uri="{FF2B5EF4-FFF2-40B4-BE49-F238E27FC236}">
                <a16:creationId xmlns:a16="http://schemas.microsoft.com/office/drawing/2014/main" id="{AF9347F6-B5EE-4B4C-903E-E31D96105C10}"/>
              </a:ext>
            </a:extLst>
          </p:cNvPr>
          <p:cNvPicPr>
            <a:picLocks noChangeAspect="1"/>
          </p:cNvPicPr>
          <p:nvPr/>
        </p:nvPicPr>
        <p:blipFill>
          <a:blip r:embed="rId3"/>
          <a:stretch>
            <a:fillRect/>
          </a:stretch>
        </p:blipFill>
        <p:spPr>
          <a:xfrm>
            <a:off x="6381947" y="1831448"/>
            <a:ext cx="5810052" cy="4912106"/>
          </a:xfrm>
          <a:prstGeom prst="rect">
            <a:avLst/>
          </a:prstGeom>
        </p:spPr>
      </p:pic>
    </p:spTree>
    <p:extLst>
      <p:ext uri="{BB962C8B-B14F-4D97-AF65-F5344CB8AC3E}">
        <p14:creationId xmlns:p14="http://schemas.microsoft.com/office/powerpoint/2010/main" val="1047733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E3A83-3F00-476E-8575-B31DAC3BB289}"/>
              </a:ext>
            </a:extLst>
          </p:cNvPr>
          <p:cNvSpPr>
            <a:spLocks noGrp="1"/>
          </p:cNvSpPr>
          <p:nvPr>
            <p:ph type="title"/>
          </p:nvPr>
        </p:nvSpPr>
        <p:spPr>
          <a:xfrm>
            <a:off x="2592925" y="624110"/>
            <a:ext cx="8911687" cy="648509"/>
          </a:xfrm>
        </p:spPr>
        <p:txBody>
          <a:bodyPr/>
          <a:lstStyle/>
          <a:p>
            <a:r>
              <a:rPr lang="en-US" dirty="0"/>
              <a:t>SQL</a:t>
            </a:r>
          </a:p>
        </p:txBody>
      </p:sp>
      <p:sp>
        <p:nvSpPr>
          <p:cNvPr id="3" name="Content Placeholder 2">
            <a:extLst>
              <a:ext uri="{FF2B5EF4-FFF2-40B4-BE49-F238E27FC236}">
                <a16:creationId xmlns:a16="http://schemas.microsoft.com/office/drawing/2014/main" id="{B55FE7EF-8B21-4235-BE77-3D45DB05D6F1}"/>
              </a:ext>
            </a:extLst>
          </p:cNvPr>
          <p:cNvSpPr>
            <a:spLocks noGrp="1"/>
          </p:cNvSpPr>
          <p:nvPr>
            <p:ph idx="1"/>
          </p:nvPr>
        </p:nvSpPr>
        <p:spPr>
          <a:xfrm>
            <a:off x="2592925" y="1907356"/>
            <a:ext cx="8915400" cy="3777622"/>
          </a:xfrm>
        </p:spPr>
        <p:txBody>
          <a:bodyPr/>
          <a:lstStyle/>
          <a:p>
            <a:r>
              <a:rPr lang="en-US" dirty="0"/>
              <a:t>First, we converted my Excel file into a CSV format and then imported that CSV file into SQL for better data handling.</a:t>
            </a:r>
          </a:p>
          <a:p>
            <a:r>
              <a:rPr lang="en-US" dirty="0"/>
              <a:t>After importing the data, we used SQL queries to fetch and analyze all loan-related information. we calculated total loan amounts, number of active and closed loans, overdue payments, and repayment details. I also used queries to find KPIs like default rate, loan disbursement count, and average loan amount.</a:t>
            </a:r>
          </a:p>
          <a:p>
            <a:pPr algn="just"/>
            <a:endParaRPr lang="en-US" dirty="0"/>
          </a:p>
        </p:txBody>
      </p:sp>
      <p:pic>
        <p:nvPicPr>
          <p:cNvPr id="4" name="Picture 3">
            <a:extLst>
              <a:ext uri="{FF2B5EF4-FFF2-40B4-BE49-F238E27FC236}">
                <a16:creationId xmlns:a16="http://schemas.microsoft.com/office/drawing/2014/main" id="{54D26BC6-88EB-4D65-8C33-E09DB1A7B97D}"/>
              </a:ext>
            </a:extLst>
          </p:cNvPr>
          <p:cNvPicPr>
            <a:picLocks noChangeAspect="1"/>
          </p:cNvPicPr>
          <p:nvPr/>
        </p:nvPicPr>
        <p:blipFill>
          <a:blip r:embed="rId2"/>
          <a:stretch>
            <a:fillRect/>
          </a:stretch>
        </p:blipFill>
        <p:spPr>
          <a:xfrm>
            <a:off x="5787008" y="3949830"/>
            <a:ext cx="5717604" cy="2809189"/>
          </a:xfrm>
          <a:prstGeom prst="rect">
            <a:avLst/>
          </a:prstGeom>
        </p:spPr>
      </p:pic>
    </p:spTree>
    <p:extLst>
      <p:ext uri="{BB962C8B-B14F-4D97-AF65-F5344CB8AC3E}">
        <p14:creationId xmlns:p14="http://schemas.microsoft.com/office/powerpoint/2010/main" val="2496065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E3A83-3F00-476E-8575-B31DAC3BB289}"/>
              </a:ext>
            </a:extLst>
          </p:cNvPr>
          <p:cNvSpPr>
            <a:spLocks noGrp="1"/>
          </p:cNvSpPr>
          <p:nvPr>
            <p:ph type="title"/>
          </p:nvPr>
        </p:nvSpPr>
        <p:spPr>
          <a:xfrm>
            <a:off x="2592925" y="624110"/>
            <a:ext cx="8911687" cy="780484"/>
          </a:xfrm>
        </p:spPr>
        <p:txBody>
          <a:bodyPr/>
          <a:lstStyle/>
          <a:p>
            <a:r>
              <a:rPr lang="en-US" dirty="0"/>
              <a:t>Conclusion &amp; Recommendations</a:t>
            </a:r>
          </a:p>
        </p:txBody>
      </p:sp>
      <p:sp>
        <p:nvSpPr>
          <p:cNvPr id="3" name="Content Placeholder 2">
            <a:extLst>
              <a:ext uri="{FF2B5EF4-FFF2-40B4-BE49-F238E27FC236}">
                <a16:creationId xmlns:a16="http://schemas.microsoft.com/office/drawing/2014/main" id="{B55FE7EF-8B21-4235-BE77-3D45DB05D6F1}"/>
              </a:ext>
            </a:extLst>
          </p:cNvPr>
          <p:cNvSpPr>
            <a:spLocks noGrp="1"/>
          </p:cNvSpPr>
          <p:nvPr>
            <p:ph idx="1"/>
          </p:nvPr>
        </p:nvSpPr>
        <p:spPr/>
        <p:txBody>
          <a:bodyPr/>
          <a:lstStyle/>
          <a:p>
            <a:pPr algn="just"/>
            <a:r>
              <a:rPr lang="en-US" dirty="0"/>
              <a:t>The dashboard provides a clear overview of loan performance and customer insights. It helps in understanding loan disbursements, repayments, overdue amounts, and customer segments. By tracking key indicators like total loan amount, default rate, and repayment trends, it becomes easier to analyze financial health and make data-driven decisions.</a:t>
            </a:r>
          </a:p>
          <a:p>
            <a:pPr algn="just"/>
            <a:r>
              <a:rPr lang="en-US" b="1" dirty="0"/>
              <a:t>Recommendations:</a:t>
            </a:r>
            <a:endParaRPr lang="en-US" dirty="0"/>
          </a:p>
          <a:p>
            <a:pPr algn="just">
              <a:buFont typeface="+mj-lt"/>
              <a:buAutoNum type="arabicPeriod"/>
            </a:pPr>
            <a:r>
              <a:rPr lang="en-US" dirty="0"/>
              <a:t>Keep data updated regularly for accurate results.</a:t>
            </a:r>
          </a:p>
          <a:p>
            <a:pPr algn="just">
              <a:buFont typeface="+mj-lt"/>
              <a:buAutoNum type="arabicPeriod"/>
            </a:pPr>
            <a:r>
              <a:rPr lang="en-US" dirty="0"/>
              <a:t>Focus more on customers with overdue payments.</a:t>
            </a:r>
          </a:p>
          <a:p>
            <a:pPr algn="just">
              <a:buFont typeface="+mj-lt"/>
              <a:buAutoNum type="arabicPeriod"/>
            </a:pPr>
            <a:r>
              <a:rPr lang="en-US" dirty="0"/>
              <a:t>Add filters to check performance by branch or loan type.</a:t>
            </a:r>
          </a:p>
          <a:p>
            <a:pPr algn="just">
              <a:buFont typeface="+mj-lt"/>
              <a:buAutoNum type="arabicPeriod"/>
            </a:pPr>
            <a:r>
              <a:rPr lang="en-US" dirty="0"/>
              <a:t>Use insights to plan and reduce future loan risks.</a:t>
            </a:r>
          </a:p>
          <a:p>
            <a:pPr algn="just"/>
            <a:endParaRPr lang="en-US" dirty="0"/>
          </a:p>
        </p:txBody>
      </p:sp>
    </p:spTree>
    <p:extLst>
      <p:ext uri="{BB962C8B-B14F-4D97-AF65-F5344CB8AC3E}">
        <p14:creationId xmlns:p14="http://schemas.microsoft.com/office/powerpoint/2010/main" val="1106812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8B0FE-B6E2-4024-AD24-397DAEDD403A}"/>
              </a:ext>
            </a:extLst>
          </p:cNvPr>
          <p:cNvSpPr>
            <a:spLocks noGrp="1"/>
          </p:cNvSpPr>
          <p:nvPr>
            <p:ph type="title"/>
          </p:nvPr>
        </p:nvSpPr>
        <p:spPr>
          <a:xfrm>
            <a:off x="2592924" y="624110"/>
            <a:ext cx="8911687" cy="742777"/>
          </a:xfrm>
        </p:spPr>
        <p:txBody>
          <a:bodyPr/>
          <a:lstStyle/>
          <a:p>
            <a:r>
              <a:rPr lang="en-US" dirty="0"/>
              <a:t>Debit &amp; Credit Dashboard</a:t>
            </a:r>
          </a:p>
        </p:txBody>
      </p:sp>
      <p:pic>
        <p:nvPicPr>
          <p:cNvPr id="1026" name="Picture 2" descr="Difference Between Debit and Credit - Shiksha Online">
            <a:extLst>
              <a:ext uri="{FF2B5EF4-FFF2-40B4-BE49-F238E27FC236}">
                <a16:creationId xmlns:a16="http://schemas.microsoft.com/office/drawing/2014/main" id="{A7FE7520-70E1-4F52-8FC0-A33A9FC2E6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2924" y="1498861"/>
            <a:ext cx="9599075" cy="5359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6989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79A96-3E13-4740-B9CA-B1A3E36FEFDF}"/>
              </a:ext>
            </a:extLst>
          </p:cNvPr>
          <p:cNvSpPr>
            <a:spLocks noGrp="1"/>
          </p:cNvSpPr>
          <p:nvPr>
            <p:ph type="title"/>
          </p:nvPr>
        </p:nvSpPr>
        <p:spPr>
          <a:xfrm>
            <a:off x="2592925" y="624110"/>
            <a:ext cx="8911687" cy="799337"/>
          </a:xfrm>
        </p:spPr>
        <p:txBody>
          <a:bodyPr/>
          <a:lstStyle/>
          <a:p>
            <a:r>
              <a:rPr lang="en-US" dirty="0"/>
              <a:t>Introduction </a:t>
            </a:r>
          </a:p>
        </p:txBody>
      </p:sp>
      <p:sp>
        <p:nvSpPr>
          <p:cNvPr id="3" name="Content Placeholder 2">
            <a:extLst>
              <a:ext uri="{FF2B5EF4-FFF2-40B4-BE49-F238E27FC236}">
                <a16:creationId xmlns:a16="http://schemas.microsoft.com/office/drawing/2014/main" id="{1F777529-C0E6-4AC5-8660-CFA14F51C2EC}"/>
              </a:ext>
            </a:extLst>
          </p:cNvPr>
          <p:cNvSpPr>
            <a:spLocks noGrp="1"/>
          </p:cNvSpPr>
          <p:nvPr>
            <p:ph idx="1"/>
          </p:nvPr>
        </p:nvSpPr>
        <p:spPr>
          <a:xfrm>
            <a:off x="2589212" y="2253006"/>
            <a:ext cx="8915400" cy="3980884"/>
          </a:xfrm>
        </p:spPr>
        <p:txBody>
          <a:bodyPr>
            <a:normAutofit/>
          </a:bodyPr>
          <a:lstStyle/>
          <a:p>
            <a:pPr algn="just"/>
            <a:r>
              <a:rPr lang="en-US" sz="2000" dirty="0"/>
              <a:t>The </a:t>
            </a:r>
            <a:r>
              <a:rPr lang="en-US" sz="2000" b="1" dirty="0"/>
              <a:t>Bank Debit and Credit Dashboard</a:t>
            </a:r>
            <a:r>
              <a:rPr lang="en-US" sz="2000" dirty="0"/>
              <a:t> is made to get a clear and quick understanding of all the money coming in and going out of the bank. It helps to track both debit (money withdrawn or paid) and credit (money received) transactions in one place. By showing this information visually, it becomes easier to analyze transaction trends, customer activity, and overall cash flow.</a:t>
            </a:r>
          </a:p>
        </p:txBody>
      </p:sp>
    </p:spTree>
    <p:extLst>
      <p:ext uri="{BB962C8B-B14F-4D97-AF65-F5344CB8AC3E}">
        <p14:creationId xmlns:p14="http://schemas.microsoft.com/office/powerpoint/2010/main" val="4064187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391E4-1430-4CB1-BA30-AAE71E5D86A9}"/>
              </a:ext>
            </a:extLst>
          </p:cNvPr>
          <p:cNvSpPr>
            <a:spLocks noGrp="1"/>
          </p:cNvSpPr>
          <p:nvPr>
            <p:ph type="title"/>
          </p:nvPr>
        </p:nvSpPr>
        <p:spPr>
          <a:xfrm>
            <a:off x="2592925" y="624110"/>
            <a:ext cx="8911687" cy="837045"/>
          </a:xfrm>
        </p:spPr>
        <p:txBody>
          <a:bodyPr/>
          <a:lstStyle/>
          <a:p>
            <a:r>
              <a:rPr lang="en-US" dirty="0"/>
              <a:t>Goals &amp; Purpose</a:t>
            </a:r>
          </a:p>
        </p:txBody>
      </p:sp>
      <p:sp>
        <p:nvSpPr>
          <p:cNvPr id="3" name="Content Placeholder 2">
            <a:extLst>
              <a:ext uri="{FF2B5EF4-FFF2-40B4-BE49-F238E27FC236}">
                <a16:creationId xmlns:a16="http://schemas.microsoft.com/office/drawing/2014/main" id="{F36C9341-6022-4438-9E5F-7956FAFD354E}"/>
              </a:ext>
            </a:extLst>
          </p:cNvPr>
          <p:cNvSpPr>
            <a:spLocks noGrp="1"/>
          </p:cNvSpPr>
          <p:nvPr>
            <p:ph idx="1"/>
          </p:nvPr>
        </p:nvSpPr>
        <p:spPr>
          <a:xfrm>
            <a:off x="2434670" y="2179748"/>
            <a:ext cx="8915400" cy="3438627"/>
          </a:xfrm>
        </p:spPr>
        <p:txBody>
          <a:bodyPr/>
          <a:lstStyle/>
          <a:p>
            <a:pPr algn="just"/>
            <a:r>
              <a:rPr lang="en-US" dirty="0"/>
              <a:t>The main goal and purpose of this data is to monitor the bank’s financial movements efficiently and identify important patterns in debit and credit transactions. </a:t>
            </a:r>
          </a:p>
          <a:p>
            <a:pPr algn="just"/>
            <a:r>
              <a:rPr lang="en-US" dirty="0"/>
              <a:t>It helps in comparing total debit and credit amounts, understanding which branches or customers have the highest transactions, and spotting any unusual or unbalanced activity. </a:t>
            </a:r>
          </a:p>
          <a:p>
            <a:pPr algn="just"/>
            <a:r>
              <a:rPr lang="en-US" dirty="0"/>
              <a:t>This data also supports better decision-making by giving a clear view of the bank’s performance and helping management maintain financial stability and transparency.</a:t>
            </a:r>
          </a:p>
        </p:txBody>
      </p:sp>
    </p:spTree>
    <p:extLst>
      <p:ext uri="{BB962C8B-B14F-4D97-AF65-F5344CB8AC3E}">
        <p14:creationId xmlns:p14="http://schemas.microsoft.com/office/powerpoint/2010/main" val="2294934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6D846-841E-47F9-9B8E-7B9318A87A3F}"/>
              </a:ext>
            </a:extLst>
          </p:cNvPr>
          <p:cNvSpPr>
            <a:spLocks noGrp="1"/>
          </p:cNvSpPr>
          <p:nvPr>
            <p:ph type="title"/>
          </p:nvPr>
        </p:nvSpPr>
        <p:spPr>
          <a:xfrm>
            <a:off x="2592925" y="624110"/>
            <a:ext cx="8911687" cy="789911"/>
          </a:xfrm>
        </p:spPr>
        <p:txBody>
          <a:bodyPr/>
          <a:lstStyle/>
          <a:p>
            <a:r>
              <a:rPr lang="en-US" dirty="0"/>
              <a:t>Data Description &amp; Cleaning</a:t>
            </a:r>
          </a:p>
        </p:txBody>
      </p:sp>
      <p:sp>
        <p:nvSpPr>
          <p:cNvPr id="3" name="Content Placeholder 2">
            <a:extLst>
              <a:ext uri="{FF2B5EF4-FFF2-40B4-BE49-F238E27FC236}">
                <a16:creationId xmlns:a16="http://schemas.microsoft.com/office/drawing/2014/main" id="{1BF9D43C-DC5F-40E3-866F-09C996FEAC3C}"/>
              </a:ext>
            </a:extLst>
          </p:cNvPr>
          <p:cNvSpPr>
            <a:spLocks noGrp="1"/>
          </p:cNvSpPr>
          <p:nvPr>
            <p:ph idx="1"/>
          </p:nvPr>
        </p:nvSpPr>
        <p:spPr>
          <a:xfrm>
            <a:off x="2513798" y="1973344"/>
            <a:ext cx="8915400" cy="3984396"/>
          </a:xfrm>
        </p:spPr>
        <p:txBody>
          <a:bodyPr/>
          <a:lstStyle/>
          <a:p>
            <a:pPr algn="just"/>
            <a:r>
              <a:rPr lang="en-US" dirty="0"/>
              <a:t>The dataset contains detailed records of bank debit and credit transactions, including customer name, account number, transaction date, transaction type (credit/debit), amount, balance, branch, and transaction method. It helps analyze money inflow and outflow, customer activity, and branch performance.</a:t>
            </a:r>
          </a:p>
          <a:p>
            <a:pPr algn="just"/>
            <a:r>
              <a:rPr lang="en-US" dirty="0"/>
              <a:t>During data cleaning, duplicate records and missing values were checked and removed, incorrect transaction types were corrected, and date and amount formats were standardized to ensure accurate analysis and reporting.</a:t>
            </a:r>
          </a:p>
          <a:p>
            <a:pPr algn="just"/>
            <a:endParaRPr lang="en-US" dirty="0"/>
          </a:p>
        </p:txBody>
      </p:sp>
    </p:spTree>
    <p:extLst>
      <p:ext uri="{BB962C8B-B14F-4D97-AF65-F5344CB8AC3E}">
        <p14:creationId xmlns:p14="http://schemas.microsoft.com/office/powerpoint/2010/main" val="614079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CA71C-0F7D-454F-8ECC-736EF1247021}"/>
              </a:ext>
            </a:extLst>
          </p:cNvPr>
          <p:cNvSpPr>
            <a:spLocks noGrp="1"/>
          </p:cNvSpPr>
          <p:nvPr>
            <p:ph type="title"/>
          </p:nvPr>
        </p:nvSpPr>
        <p:spPr>
          <a:xfrm>
            <a:off x="2592925" y="624110"/>
            <a:ext cx="8911687" cy="667362"/>
          </a:xfrm>
        </p:spPr>
        <p:txBody>
          <a:bodyPr/>
          <a:lstStyle/>
          <a:p>
            <a:r>
              <a:rPr lang="en-US" dirty="0"/>
              <a:t>KPI</a:t>
            </a:r>
          </a:p>
        </p:txBody>
      </p:sp>
      <p:sp>
        <p:nvSpPr>
          <p:cNvPr id="3" name="Content Placeholder 2">
            <a:extLst>
              <a:ext uri="{FF2B5EF4-FFF2-40B4-BE49-F238E27FC236}">
                <a16:creationId xmlns:a16="http://schemas.microsoft.com/office/drawing/2014/main" id="{90A3F4E7-7CA7-429C-A259-B8A4260D76F2}"/>
              </a:ext>
            </a:extLst>
          </p:cNvPr>
          <p:cNvSpPr>
            <a:spLocks noGrp="1"/>
          </p:cNvSpPr>
          <p:nvPr>
            <p:ph idx="1"/>
          </p:nvPr>
        </p:nvSpPr>
        <p:spPr>
          <a:xfrm>
            <a:off x="2589212" y="1828800"/>
            <a:ext cx="8915400" cy="4082422"/>
          </a:xfrm>
        </p:spPr>
        <p:txBody>
          <a:bodyPr>
            <a:normAutofit/>
          </a:bodyPr>
          <a:lstStyle/>
          <a:p>
            <a:r>
              <a:rPr lang="en-US" b="1" dirty="0"/>
              <a:t>Total Credit Amount – 127.60M </a:t>
            </a:r>
            <a:r>
              <a:rPr lang="en-US" dirty="0"/>
              <a:t>Shows the total amount of money credited (inflows) across all banks and branches.</a:t>
            </a:r>
          </a:p>
          <a:p>
            <a:r>
              <a:rPr lang="en-US" b="1" dirty="0"/>
              <a:t>Total Debit Amount – 127.29M</a:t>
            </a:r>
            <a:r>
              <a:rPr lang="en-US" dirty="0"/>
              <a:t> Represents the total amount of money debited (outflows) from customer accounts.</a:t>
            </a:r>
          </a:p>
          <a:p>
            <a:r>
              <a:rPr lang="en-US" b="1" dirty="0"/>
              <a:t>Account Activity Ratio – 0.019%</a:t>
            </a:r>
            <a:r>
              <a:rPr lang="en-US" dirty="0"/>
              <a:t> Indicates the level of transaction activity across accounts, reflecting customer engagement and movement of funds.</a:t>
            </a:r>
          </a:p>
          <a:p>
            <a:r>
              <a:rPr lang="en-US" b="1" dirty="0"/>
              <a:t>Net Transaction Amount – 318.12K </a:t>
            </a:r>
            <a:r>
              <a:rPr lang="en-US" dirty="0"/>
              <a:t>The difference between total credits and debits, showing whether overall transactions result in a net inflow or outflow.</a:t>
            </a:r>
          </a:p>
          <a:p>
            <a:r>
              <a:rPr lang="en-US" b="1" dirty="0"/>
              <a:t>Credit to Debit Ratio – 1.0025 </a:t>
            </a:r>
            <a:r>
              <a:rPr lang="en-US" dirty="0"/>
              <a:t>Compares total credited amount to total debited amount. A ratio near 1 indicates balanced cash flow between inflows and outflows.</a:t>
            </a:r>
          </a:p>
        </p:txBody>
      </p:sp>
    </p:spTree>
    <p:extLst>
      <p:ext uri="{BB962C8B-B14F-4D97-AF65-F5344CB8AC3E}">
        <p14:creationId xmlns:p14="http://schemas.microsoft.com/office/powerpoint/2010/main" val="39501110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26C2E-2C4D-4C51-B66E-B2ABFEBD4D72}"/>
              </a:ext>
            </a:extLst>
          </p:cNvPr>
          <p:cNvSpPr>
            <a:spLocks noGrp="1"/>
          </p:cNvSpPr>
          <p:nvPr>
            <p:ph type="title"/>
          </p:nvPr>
        </p:nvSpPr>
        <p:spPr>
          <a:xfrm>
            <a:off x="2592924" y="624110"/>
            <a:ext cx="8911687" cy="648923"/>
          </a:xfrm>
        </p:spPr>
        <p:txBody>
          <a:bodyPr/>
          <a:lstStyle/>
          <a:p>
            <a:r>
              <a:rPr lang="en-US" dirty="0"/>
              <a:t>Visual Insights</a:t>
            </a:r>
          </a:p>
        </p:txBody>
      </p:sp>
      <p:sp>
        <p:nvSpPr>
          <p:cNvPr id="16" name="TextBox 15">
            <a:extLst>
              <a:ext uri="{FF2B5EF4-FFF2-40B4-BE49-F238E27FC236}">
                <a16:creationId xmlns:a16="http://schemas.microsoft.com/office/drawing/2014/main" id="{6FF556E0-64A5-4661-A819-482168501FD6}"/>
              </a:ext>
            </a:extLst>
          </p:cNvPr>
          <p:cNvSpPr txBox="1"/>
          <p:nvPr/>
        </p:nvSpPr>
        <p:spPr>
          <a:xfrm>
            <a:off x="7674757" y="3632622"/>
            <a:ext cx="3848637" cy="369332"/>
          </a:xfrm>
          <a:prstGeom prst="rect">
            <a:avLst/>
          </a:prstGeom>
          <a:noFill/>
        </p:spPr>
        <p:txBody>
          <a:bodyPr wrap="square" rtlCol="0">
            <a:spAutoFit/>
          </a:bodyPr>
          <a:lstStyle/>
          <a:p>
            <a:pPr algn="just"/>
            <a:endParaRPr lang="en-US" dirty="0"/>
          </a:p>
        </p:txBody>
      </p:sp>
      <p:pic>
        <p:nvPicPr>
          <p:cNvPr id="5" name="Content Placeholder 4">
            <a:extLst>
              <a:ext uri="{FF2B5EF4-FFF2-40B4-BE49-F238E27FC236}">
                <a16:creationId xmlns:a16="http://schemas.microsoft.com/office/drawing/2014/main" id="{B6723A07-6551-4652-81C7-AC346A5E3036}"/>
              </a:ext>
            </a:extLst>
          </p:cNvPr>
          <p:cNvPicPr>
            <a:picLocks noGrp="1" noChangeAspect="1"/>
          </p:cNvPicPr>
          <p:nvPr>
            <p:ph sz="half" idx="1"/>
          </p:nvPr>
        </p:nvPicPr>
        <p:blipFill>
          <a:blip r:embed="rId2"/>
          <a:stretch>
            <a:fillRect/>
          </a:stretch>
        </p:blipFill>
        <p:spPr>
          <a:xfrm>
            <a:off x="2592923" y="1444474"/>
            <a:ext cx="4081253" cy="2149176"/>
          </a:xfrm>
          <a:prstGeom prst="rect">
            <a:avLst/>
          </a:prstGeom>
        </p:spPr>
      </p:pic>
      <p:sp>
        <p:nvSpPr>
          <p:cNvPr id="6" name="Rectangle 1">
            <a:extLst>
              <a:ext uri="{FF2B5EF4-FFF2-40B4-BE49-F238E27FC236}">
                <a16:creationId xmlns:a16="http://schemas.microsoft.com/office/drawing/2014/main" id="{A290762E-8A92-471A-AF7C-325980DEA901}"/>
              </a:ext>
            </a:extLst>
          </p:cNvPr>
          <p:cNvSpPr>
            <a:spLocks noChangeArrowheads="1"/>
          </p:cNvSpPr>
          <p:nvPr/>
        </p:nvSpPr>
        <p:spPr bwMode="auto">
          <a:xfrm rot="10800000" flipV="1">
            <a:off x="2592922" y="3958155"/>
            <a:ext cx="408125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Compares total transaction amounts by bank (e.g., Kotak Mahindra, Axis Bank, SBI, ICICI, PNB, HDFC).</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The line represents </a:t>
            </a:r>
            <a:r>
              <a:rPr kumimoji="0" lang="en-US" altLang="en-US" sz="1800" b="1" i="0" u="none" strike="noStrike" cap="none" normalizeH="0" baseline="0" dirty="0">
                <a:ln>
                  <a:noFill/>
                </a:ln>
                <a:solidFill>
                  <a:schemeClr val="tx1"/>
                </a:solidFill>
                <a:effectLst/>
              </a:rPr>
              <a:t>Month-over-Month % change</a:t>
            </a:r>
            <a:r>
              <a:rPr kumimoji="0" lang="en-US" altLang="en-US" sz="1800" b="0" i="0" u="none" strike="noStrike" cap="none" normalizeH="0" baseline="0" dirty="0">
                <a:ln>
                  <a:noFill/>
                </a:ln>
                <a:solidFill>
                  <a:schemeClr val="tx1"/>
                </a:solidFill>
                <a:effectLst/>
              </a:rPr>
              <a:t>, showing growth or decline in transaction activity.</a:t>
            </a:r>
          </a:p>
        </p:txBody>
      </p:sp>
      <p:pic>
        <p:nvPicPr>
          <p:cNvPr id="11" name="Content Placeholder 10">
            <a:extLst>
              <a:ext uri="{FF2B5EF4-FFF2-40B4-BE49-F238E27FC236}">
                <a16:creationId xmlns:a16="http://schemas.microsoft.com/office/drawing/2014/main" id="{15A3DB24-2C53-440F-8E33-D48AB5570C5B}"/>
              </a:ext>
            </a:extLst>
          </p:cNvPr>
          <p:cNvPicPr>
            <a:picLocks noGrp="1" noChangeAspect="1"/>
          </p:cNvPicPr>
          <p:nvPr>
            <p:ph sz="half" idx="2"/>
          </p:nvPr>
        </p:nvPicPr>
        <p:blipFill>
          <a:blip r:embed="rId3"/>
          <a:stretch>
            <a:fillRect/>
          </a:stretch>
        </p:blipFill>
        <p:spPr>
          <a:xfrm>
            <a:off x="7503553" y="1440700"/>
            <a:ext cx="4001058" cy="2152950"/>
          </a:xfrm>
          <a:prstGeom prst="rect">
            <a:avLst/>
          </a:prstGeom>
        </p:spPr>
      </p:pic>
      <p:sp>
        <p:nvSpPr>
          <p:cNvPr id="13" name="Rectangle 2">
            <a:extLst>
              <a:ext uri="{FF2B5EF4-FFF2-40B4-BE49-F238E27FC236}">
                <a16:creationId xmlns:a16="http://schemas.microsoft.com/office/drawing/2014/main" id="{55D512EF-F0F6-4129-8948-EA9E1BA464AD}"/>
              </a:ext>
            </a:extLst>
          </p:cNvPr>
          <p:cNvSpPr>
            <a:spLocks noChangeArrowheads="1"/>
          </p:cNvSpPr>
          <p:nvPr/>
        </p:nvSpPr>
        <p:spPr bwMode="auto">
          <a:xfrm rot="10800000" flipV="1">
            <a:off x="7503553" y="3982533"/>
            <a:ext cx="400105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Displays monthly increases and decreases in transaction volume.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Shows fluctuations throughout the year, highlighting months with higher activity (like May, July, and October).</a:t>
            </a:r>
          </a:p>
        </p:txBody>
      </p:sp>
    </p:spTree>
    <p:extLst>
      <p:ext uri="{BB962C8B-B14F-4D97-AF65-F5344CB8AC3E}">
        <p14:creationId xmlns:p14="http://schemas.microsoft.com/office/powerpoint/2010/main" val="16594651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5A2A8-83A9-4E3A-BD17-CDC039804355}"/>
              </a:ext>
            </a:extLst>
          </p:cNvPr>
          <p:cNvSpPr>
            <a:spLocks noGrp="1"/>
          </p:cNvSpPr>
          <p:nvPr>
            <p:ph type="title"/>
          </p:nvPr>
        </p:nvSpPr>
        <p:spPr>
          <a:xfrm>
            <a:off x="2592924" y="624110"/>
            <a:ext cx="8911687" cy="573094"/>
          </a:xfrm>
        </p:spPr>
        <p:txBody>
          <a:bodyPr>
            <a:normAutofit fontScale="90000"/>
          </a:bodyPr>
          <a:lstStyle/>
          <a:p>
            <a:r>
              <a:rPr lang="en-US" dirty="0"/>
              <a:t>Excel Dashboard</a:t>
            </a:r>
          </a:p>
        </p:txBody>
      </p:sp>
      <p:pic>
        <p:nvPicPr>
          <p:cNvPr id="5" name="Picture 4">
            <a:extLst>
              <a:ext uri="{FF2B5EF4-FFF2-40B4-BE49-F238E27FC236}">
                <a16:creationId xmlns:a16="http://schemas.microsoft.com/office/drawing/2014/main" id="{78378234-E439-4F9A-8B1B-1D579FC81AED}"/>
              </a:ext>
            </a:extLst>
          </p:cNvPr>
          <p:cNvPicPr>
            <a:picLocks noChangeAspect="1"/>
          </p:cNvPicPr>
          <p:nvPr/>
        </p:nvPicPr>
        <p:blipFill>
          <a:blip r:embed="rId2"/>
          <a:stretch>
            <a:fillRect/>
          </a:stretch>
        </p:blipFill>
        <p:spPr>
          <a:xfrm>
            <a:off x="2592924" y="1319753"/>
            <a:ext cx="8634400" cy="5457752"/>
          </a:xfrm>
          <a:prstGeom prst="rect">
            <a:avLst/>
          </a:prstGeom>
        </p:spPr>
      </p:pic>
    </p:spTree>
    <p:extLst>
      <p:ext uri="{BB962C8B-B14F-4D97-AF65-F5344CB8AC3E}">
        <p14:creationId xmlns:p14="http://schemas.microsoft.com/office/powerpoint/2010/main" val="13584066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5A2A8-83A9-4E3A-BD17-CDC039804355}"/>
              </a:ext>
            </a:extLst>
          </p:cNvPr>
          <p:cNvSpPr>
            <a:spLocks noGrp="1"/>
          </p:cNvSpPr>
          <p:nvPr>
            <p:ph type="title"/>
          </p:nvPr>
        </p:nvSpPr>
        <p:spPr>
          <a:xfrm>
            <a:off x="2592924" y="624110"/>
            <a:ext cx="8911687" cy="573094"/>
          </a:xfrm>
        </p:spPr>
        <p:txBody>
          <a:bodyPr>
            <a:normAutofit fontScale="90000"/>
          </a:bodyPr>
          <a:lstStyle/>
          <a:p>
            <a:r>
              <a:rPr lang="en-US" dirty="0"/>
              <a:t>Power BI Dashboard</a:t>
            </a:r>
          </a:p>
        </p:txBody>
      </p:sp>
      <p:pic>
        <p:nvPicPr>
          <p:cNvPr id="6" name="Picture 5">
            <a:extLst>
              <a:ext uri="{FF2B5EF4-FFF2-40B4-BE49-F238E27FC236}">
                <a16:creationId xmlns:a16="http://schemas.microsoft.com/office/drawing/2014/main" id="{F0E62DB8-5176-4988-89F1-311A017CEA1B}"/>
              </a:ext>
            </a:extLst>
          </p:cNvPr>
          <p:cNvPicPr>
            <a:picLocks noChangeAspect="1"/>
          </p:cNvPicPr>
          <p:nvPr/>
        </p:nvPicPr>
        <p:blipFill>
          <a:blip r:embed="rId2"/>
          <a:stretch>
            <a:fillRect/>
          </a:stretch>
        </p:blipFill>
        <p:spPr>
          <a:xfrm>
            <a:off x="2592924" y="1459022"/>
            <a:ext cx="9360264" cy="5398103"/>
          </a:xfrm>
          <a:prstGeom prst="rect">
            <a:avLst/>
          </a:prstGeom>
        </p:spPr>
      </p:pic>
    </p:spTree>
    <p:extLst>
      <p:ext uri="{BB962C8B-B14F-4D97-AF65-F5344CB8AC3E}">
        <p14:creationId xmlns:p14="http://schemas.microsoft.com/office/powerpoint/2010/main" val="987075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5A2A8-83A9-4E3A-BD17-CDC039804355}"/>
              </a:ext>
            </a:extLst>
          </p:cNvPr>
          <p:cNvSpPr>
            <a:spLocks noGrp="1"/>
          </p:cNvSpPr>
          <p:nvPr>
            <p:ph type="title"/>
          </p:nvPr>
        </p:nvSpPr>
        <p:spPr>
          <a:xfrm>
            <a:off x="2592924" y="624110"/>
            <a:ext cx="8911687" cy="573094"/>
          </a:xfrm>
        </p:spPr>
        <p:txBody>
          <a:bodyPr>
            <a:normAutofit fontScale="90000"/>
          </a:bodyPr>
          <a:lstStyle/>
          <a:p>
            <a:r>
              <a:rPr lang="en-US" dirty="0"/>
              <a:t>Tableau Dashboard</a:t>
            </a:r>
          </a:p>
        </p:txBody>
      </p:sp>
      <p:pic>
        <p:nvPicPr>
          <p:cNvPr id="3" name="Picture 2">
            <a:extLst>
              <a:ext uri="{FF2B5EF4-FFF2-40B4-BE49-F238E27FC236}">
                <a16:creationId xmlns:a16="http://schemas.microsoft.com/office/drawing/2014/main" id="{B62A52EA-6168-4E52-ACCE-7E2F253CBA7C}"/>
              </a:ext>
            </a:extLst>
          </p:cNvPr>
          <p:cNvPicPr>
            <a:picLocks noChangeAspect="1"/>
          </p:cNvPicPr>
          <p:nvPr/>
        </p:nvPicPr>
        <p:blipFill>
          <a:blip r:embed="rId2"/>
          <a:stretch>
            <a:fillRect/>
          </a:stretch>
        </p:blipFill>
        <p:spPr>
          <a:xfrm>
            <a:off x="2592923" y="1395168"/>
            <a:ext cx="9341411" cy="5462832"/>
          </a:xfrm>
          <a:prstGeom prst="rect">
            <a:avLst/>
          </a:prstGeom>
        </p:spPr>
      </p:pic>
    </p:spTree>
    <p:extLst>
      <p:ext uri="{BB962C8B-B14F-4D97-AF65-F5344CB8AC3E}">
        <p14:creationId xmlns:p14="http://schemas.microsoft.com/office/powerpoint/2010/main" val="11844207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E3A83-3F00-476E-8575-B31DAC3BB289}"/>
              </a:ext>
            </a:extLst>
          </p:cNvPr>
          <p:cNvSpPr>
            <a:spLocks noGrp="1"/>
          </p:cNvSpPr>
          <p:nvPr>
            <p:ph type="title"/>
          </p:nvPr>
        </p:nvSpPr>
        <p:spPr>
          <a:xfrm>
            <a:off x="2592925" y="624110"/>
            <a:ext cx="8911687" cy="648509"/>
          </a:xfrm>
        </p:spPr>
        <p:txBody>
          <a:bodyPr/>
          <a:lstStyle/>
          <a:p>
            <a:r>
              <a:rPr lang="en-US" dirty="0"/>
              <a:t>SQL</a:t>
            </a:r>
          </a:p>
        </p:txBody>
      </p:sp>
      <p:sp>
        <p:nvSpPr>
          <p:cNvPr id="3" name="Content Placeholder 2">
            <a:extLst>
              <a:ext uri="{FF2B5EF4-FFF2-40B4-BE49-F238E27FC236}">
                <a16:creationId xmlns:a16="http://schemas.microsoft.com/office/drawing/2014/main" id="{B55FE7EF-8B21-4235-BE77-3D45DB05D6F1}"/>
              </a:ext>
            </a:extLst>
          </p:cNvPr>
          <p:cNvSpPr>
            <a:spLocks noGrp="1"/>
          </p:cNvSpPr>
          <p:nvPr>
            <p:ph idx="1"/>
          </p:nvPr>
        </p:nvSpPr>
        <p:spPr>
          <a:xfrm>
            <a:off x="2592925" y="1907356"/>
            <a:ext cx="8915400" cy="3777622"/>
          </a:xfrm>
        </p:spPr>
        <p:txBody>
          <a:bodyPr/>
          <a:lstStyle/>
          <a:p>
            <a:pPr algn="just"/>
            <a:r>
              <a:rPr lang="en-US" dirty="0"/>
              <a:t>First, we converted my Excel file into a CSV format and then imported that CSV file into SQL for better data handling.</a:t>
            </a:r>
          </a:p>
          <a:p>
            <a:pPr algn="just"/>
            <a:r>
              <a:rPr lang="en-US" dirty="0"/>
              <a:t>We used queries to separate debit and credit transactions. Using SQL, we calculated total debit, total credit, balance, and the credit-to-debit ratio. We also checked transaction trends on a daily and monthly basis. These queries helped me to summarize the data and create a clear financial dashboard.</a:t>
            </a:r>
          </a:p>
        </p:txBody>
      </p:sp>
      <p:pic>
        <p:nvPicPr>
          <p:cNvPr id="12" name="Picture 11">
            <a:extLst>
              <a:ext uri="{FF2B5EF4-FFF2-40B4-BE49-F238E27FC236}">
                <a16:creationId xmlns:a16="http://schemas.microsoft.com/office/drawing/2014/main" id="{97E3520E-35DF-4A42-B403-F11931F4AC2F}"/>
              </a:ext>
            </a:extLst>
          </p:cNvPr>
          <p:cNvPicPr>
            <a:picLocks noChangeAspect="1"/>
          </p:cNvPicPr>
          <p:nvPr/>
        </p:nvPicPr>
        <p:blipFill>
          <a:blip r:embed="rId2"/>
          <a:stretch>
            <a:fillRect/>
          </a:stretch>
        </p:blipFill>
        <p:spPr>
          <a:xfrm>
            <a:off x="4911365" y="3796168"/>
            <a:ext cx="6721311" cy="2896864"/>
          </a:xfrm>
          <a:prstGeom prst="rect">
            <a:avLst/>
          </a:prstGeom>
        </p:spPr>
      </p:pic>
    </p:spTree>
    <p:extLst>
      <p:ext uri="{BB962C8B-B14F-4D97-AF65-F5344CB8AC3E}">
        <p14:creationId xmlns:p14="http://schemas.microsoft.com/office/powerpoint/2010/main" val="3274554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E3A83-3F00-476E-8575-B31DAC3BB289}"/>
              </a:ext>
            </a:extLst>
          </p:cNvPr>
          <p:cNvSpPr>
            <a:spLocks noGrp="1"/>
          </p:cNvSpPr>
          <p:nvPr>
            <p:ph type="title"/>
          </p:nvPr>
        </p:nvSpPr>
        <p:spPr>
          <a:xfrm>
            <a:off x="2592925" y="624110"/>
            <a:ext cx="8911687" cy="780484"/>
          </a:xfrm>
        </p:spPr>
        <p:txBody>
          <a:bodyPr/>
          <a:lstStyle/>
          <a:p>
            <a:r>
              <a:rPr lang="en-US" dirty="0"/>
              <a:t>Conclusion &amp; Recommendations</a:t>
            </a:r>
          </a:p>
        </p:txBody>
      </p:sp>
      <p:sp>
        <p:nvSpPr>
          <p:cNvPr id="3" name="Content Placeholder 2">
            <a:extLst>
              <a:ext uri="{FF2B5EF4-FFF2-40B4-BE49-F238E27FC236}">
                <a16:creationId xmlns:a16="http://schemas.microsoft.com/office/drawing/2014/main" id="{B55FE7EF-8B21-4235-BE77-3D45DB05D6F1}"/>
              </a:ext>
            </a:extLst>
          </p:cNvPr>
          <p:cNvSpPr>
            <a:spLocks noGrp="1"/>
          </p:cNvSpPr>
          <p:nvPr>
            <p:ph idx="1"/>
          </p:nvPr>
        </p:nvSpPr>
        <p:spPr>
          <a:xfrm>
            <a:off x="2589212" y="1916784"/>
            <a:ext cx="8915400" cy="3777622"/>
          </a:xfrm>
        </p:spPr>
        <p:txBody>
          <a:bodyPr/>
          <a:lstStyle/>
          <a:p>
            <a:pPr algn="just"/>
            <a:r>
              <a:rPr lang="en-US" dirty="0"/>
              <a:t>The debit–credit dashboard gives a detailed summary of all financial transactions. It helps in monitoring daily transactions, comparing debit and credit flow, and identifying spending or income trends. It supports better financial tracking and helps in maintaining balance between inflows and outflows.</a:t>
            </a:r>
          </a:p>
          <a:p>
            <a:pPr algn="just"/>
            <a:r>
              <a:rPr lang="en-US" b="1" dirty="0"/>
              <a:t>Recommendations:</a:t>
            </a:r>
            <a:endParaRPr lang="en-US" dirty="0"/>
          </a:p>
          <a:p>
            <a:pPr algn="just">
              <a:buFont typeface="+mj-lt"/>
              <a:buAutoNum type="arabicPeriod"/>
            </a:pPr>
            <a:r>
              <a:rPr lang="en-US" dirty="0"/>
              <a:t>Keep track of high-value transactions for better financial control.</a:t>
            </a:r>
          </a:p>
          <a:p>
            <a:pPr algn="just">
              <a:buFont typeface="+mj-lt"/>
              <a:buAutoNum type="arabicPeriod"/>
            </a:pPr>
            <a:r>
              <a:rPr lang="en-US" dirty="0"/>
              <a:t>Maintain equal focus on both debit and credit trends to ensure balance.</a:t>
            </a:r>
          </a:p>
          <a:p>
            <a:pPr algn="just">
              <a:buFont typeface="+mj-lt"/>
              <a:buAutoNum type="arabicPeriod"/>
            </a:pPr>
            <a:r>
              <a:rPr lang="en-US" dirty="0"/>
              <a:t>Add time-based comparisons (monthly/quarterly) for better insights.</a:t>
            </a:r>
          </a:p>
          <a:p>
            <a:pPr algn="just">
              <a:buFont typeface="+mj-lt"/>
              <a:buAutoNum type="arabicPeriod"/>
            </a:pPr>
            <a:r>
              <a:rPr lang="en-US" dirty="0"/>
              <a:t>Use alerts or KPIs to quickly detect unusual or irregular transactions.</a:t>
            </a:r>
          </a:p>
          <a:p>
            <a:pPr algn="just"/>
            <a:endParaRPr lang="en-US" dirty="0"/>
          </a:p>
        </p:txBody>
      </p:sp>
    </p:spTree>
    <p:extLst>
      <p:ext uri="{BB962C8B-B14F-4D97-AF65-F5344CB8AC3E}">
        <p14:creationId xmlns:p14="http://schemas.microsoft.com/office/powerpoint/2010/main" val="4206096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AC3398-F5E7-46AF-A767-BAB445239C37}"/>
              </a:ext>
            </a:extLst>
          </p:cNvPr>
          <p:cNvSpPr txBox="1"/>
          <p:nvPr/>
        </p:nvSpPr>
        <p:spPr>
          <a:xfrm>
            <a:off x="2432115" y="2677212"/>
            <a:ext cx="8135332" cy="1446550"/>
          </a:xfrm>
          <a:prstGeom prst="rect">
            <a:avLst/>
          </a:prstGeom>
          <a:noFill/>
        </p:spPr>
        <p:txBody>
          <a:bodyPr wrap="square" rtlCol="0">
            <a:spAutoFit/>
          </a:bodyPr>
          <a:lstStyle/>
          <a:p>
            <a:r>
              <a:rPr lang="en-US" sz="8800" dirty="0"/>
              <a:t>Thank You !</a:t>
            </a:r>
          </a:p>
        </p:txBody>
      </p:sp>
    </p:spTree>
    <p:extLst>
      <p:ext uri="{BB962C8B-B14F-4D97-AF65-F5344CB8AC3E}">
        <p14:creationId xmlns:p14="http://schemas.microsoft.com/office/powerpoint/2010/main" val="103271051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442</TotalTime>
  <Words>1577</Words>
  <Application>Microsoft Office PowerPoint</Application>
  <PresentationFormat>Widescreen</PresentationFormat>
  <Paragraphs>93</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Century Gothic</vt:lpstr>
      <vt:lpstr>Times New Roman</vt:lpstr>
      <vt:lpstr>Wingdings 3</vt:lpstr>
      <vt:lpstr>Wisp</vt:lpstr>
      <vt:lpstr>BANK ANALYTICS</vt:lpstr>
      <vt:lpstr>Agenda</vt:lpstr>
      <vt:lpstr>Bank Loan Dashboard</vt:lpstr>
      <vt:lpstr>Introduction </vt:lpstr>
      <vt:lpstr>Goals &amp; Purpose</vt:lpstr>
      <vt:lpstr>Data Description</vt:lpstr>
      <vt:lpstr>Data Cleaning</vt:lpstr>
      <vt:lpstr>KPI</vt:lpstr>
      <vt:lpstr>Visual Insights</vt:lpstr>
      <vt:lpstr>KPI</vt:lpstr>
      <vt:lpstr>Excel Dashboard</vt:lpstr>
      <vt:lpstr>Power BI Dashboard</vt:lpstr>
      <vt:lpstr>Tableau Dashboard</vt:lpstr>
      <vt:lpstr>SQL</vt:lpstr>
      <vt:lpstr>Conclusion &amp; Recommendations</vt:lpstr>
      <vt:lpstr>Debit &amp; Credit Dashboard</vt:lpstr>
      <vt:lpstr>Introduction </vt:lpstr>
      <vt:lpstr>Goals &amp; Purpose</vt:lpstr>
      <vt:lpstr>Data Description &amp; Cleaning</vt:lpstr>
      <vt:lpstr>KPI</vt:lpstr>
      <vt:lpstr>Visual Insights</vt:lpstr>
      <vt:lpstr>Excel Dashboard</vt:lpstr>
      <vt:lpstr>Power BI Dashboard</vt:lpstr>
      <vt:lpstr>Tableau Dashboard</vt:lpstr>
      <vt:lpstr>SQL</vt:lpstr>
      <vt:lpstr>Conclusion &amp; Recommendations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ANALYTICS</dc:title>
  <dc:creator>Bharvi Sinalkar</dc:creator>
  <cp:lastModifiedBy>Bharvi Sinalkar</cp:lastModifiedBy>
  <cp:revision>38</cp:revision>
  <dcterms:created xsi:type="dcterms:W3CDTF">2025-10-24T05:53:21Z</dcterms:created>
  <dcterms:modified xsi:type="dcterms:W3CDTF">2025-10-30T06:35:05Z</dcterms:modified>
</cp:coreProperties>
</file>